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2E75B6"/>
          </a:solidFill>
          <a:ln/>
        </p:spPr>
      </p:sp>
      <p:sp>
        <p:nvSpPr>
          <p:cNvPr id="3" name="Text 1"/>
          <p:cNvSpPr/>
          <p:nvPr/>
        </p:nvSpPr>
        <p:spPr>
          <a:xfrm>
            <a:off x="548640" y="914400"/>
            <a:ext cx="7315200" cy="91440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GoFlight</a:t>
            </a:r>
            <a:endParaRPr lang="en-US" sz="4800" dirty="0"/>
          </a:p>
        </p:txBody>
      </p:sp>
      <p:sp>
        <p:nvSpPr>
          <p:cNvPr id="4" name="Text 2"/>
          <p:cNvSpPr/>
          <p:nvPr/>
        </p:nvSpPr>
        <p:spPr>
          <a:xfrm>
            <a:off x="548640" y="1920240"/>
            <a:ext cx="6400800" cy="1645920"/>
          </a:xfrm>
          <a:prstGeom prst="rect">
            <a:avLst/>
          </a:prstGeom>
          <a:noFill/>
          <a:ln/>
        </p:spPr>
        <p:txBody>
          <a:bodyPr wrap="square" lIns="0" tIns="0" rIns="0" bIns="0" rtlCol="0" anchor="ctr"/>
          <a:lstStyle/>
          <a:p>
            <a:pPr indent="0" marL="0">
              <a:lnSpc>
                <a:spcPct val="140000"/>
              </a:lnSpc>
              <a:buNone/>
            </a:pPr>
            <a:r>
              <a:rPr lang="en-US" sz="2200" dirty="0">
                <a:solidFill>
                  <a:srgbClr val="C5962A"/>
                </a:solidFill>
                <a:latin typeface="Arial" pitchFamily="34" charset="0"/>
                <a:ea typeface="Arial" pitchFamily="34" charset="-122"/>
                <a:cs typeface="Arial" pitchFamily="34" charset="-120"/>
              </a:rPr>
              <a:t>Don’t buy software.</a:t>
            </a:r>
            <a:endParaRPr lang="en-US" sz="2200" dirty="0"/>
          </a:p>
          <a:p>
            <a:pPr indent="0" marL="0">
              <a:lnSpc>
                <a:spcPct val="140000"/>
              </a:lnSpc>
              <a:buNone/>
            </a:pPr>
            <a:r>
              <a:rPr lang="en-US" sz="2200" dirty="0">
                <a:solidFill>
                  <a:srgbClr val="C5962A"/>
                </a:solidFill>
                <a:latin typeface="Arial" pitchFamily="34" charset="0"/>
                <a:ea typeface="Arial" pitchFamily="34" charset="-122"/>
                <a:cs typeface="Arial" pitchFamily="34" charset="-120"/>
              </a:rPr>
              <a:t>Flyn does the busywork.</a:t>
            </a:r>
            <a:endParaRPr lang="en-US" sz="2200" dirty="0"/>
          </a:p>
          <a:p>
            <a:pPr indent="0" marL="0">
              <a:lnSpc>
                <a:spcPct val="140000"/>
              </a:lnSpc>
              <a:buNone/>
            </a:pPr>
            <a:r>
              <a:rPr lang="en-US" sz="2200" dirty="0">
                <a:solidFill>
                  <a:srgbClr val="C5962A"/>
                </a:solidFill>
                <a:latin typeface="Arial" pitchFamily="34" charset="0"/>
                <a:ea typeface="Arial" pitchFamily="34" charset="-122"/>
                <a:cs typeface="Arial" pitchFamily="34" charset="-120"/>
              </a:rPr>
              <a:t>You help customers, fly planes, and make deposits.</a:t>
            </a:r>
            <a:endParaRPr lang="en-US" sz="2200" dirty="0"/>
          </a:p>
        </p:txBody>
      </p:sp>
      <p:sp>
        <p:nvSpPr>
          <p:cNvPr id="5" name="Text 3"/>
          <p:cNvSpPr/>
          <p:nvPr/>
        </p:nvSpPr>
        <p:spPr>
          <a:xfrm>
            <a:off x="548640" y="3840480"/>
            <a:ext cx="5486400" cy="457200"/>
          </a:xfrm>
          <a:prstGeom prst="rect">
            <a:avLst/>
          </a:prstGeom>
          <a:noFill/>
          <a:ln/>
        </p:spPr>
        <p:txBody>
          <a:bodyPr wrap="square" lIns="0" tIns="0" rIns="0" bIns="0" rtlCol="0" anchor="ctr"/>
          <a:lstStyle/>
          <a:p>
            <a:pPr indent="0" marL="0">
              <a:buNone/>
            </a:pPr>
            <a:r>
              <a:rPr lang="en-US" sz="1300" dirty="0">
                <a:solidFill>
                  <a:srgbClr val="8898AA"/>
                </a:solidFill>
                <a:latin typeface="Arial" pitchFamily="34" charset="0"/>
                <a:ea typeface="Arial" pitchFamily="34" charset="-122"/>
                <a:cs typeface="Arial" pitchFamily="34" charset="-120"/>
              </a:rPr>
              <a:t>Charter operations platform for mid-size US operators</a:t>
            </a:r>
            <a:endParaRPr lang="en-US" sz="1300" dirty="0"/>
          </a:p>
        </p:txBody>
      </p:sp>
      <p:sp>
        <p:nvSpPr>
          <p:cNvPr id="6" name="Text 4"/>
          <p:cNvSpPr/>
          <p:nvPr/>
        </p:nvSpPr>
        <p:spPr>
          <a:xfrm>
            <a:off x="548640" y="4389120"/>
            <a:ext cx="5486400" cy="365760"/>
          </a:xfrm>
          <a:prstGeom prst="rect">
            <a:avLst/>
          </a:prstGeom>
          <a:noFill/>
          <a:ln/>
        </p:spPr>
        <p:txBody>
          <a:bodyPr wrap="square" lIns="0" tIns="0" rIns="0" bIns="0" rtlCol="0" anchor="ctr"/>
          <a:lstStyle/>
          <a:p>
            <a:pPr indent="0" marL="0">
              <a:buNone/>
            </a:pPr>
            <a:r>
              <a:rPr lang="en-US" sz="1100" dirty="0">
                <a:solidFill>
                  <a:srgbClr val="8898AA"/>
                </a:solidFill>
                <a:latin typeface="Arial" pitchFamily="34" charset="0"/>
                <a:ea typeface="Arial" pitchFamily="34" charset="-122"/>
                <a:cs typeface="Arial" pitchFamily="34" charset="-120"/>
              </a:rPr>
              <a:t>April 2026  ·  Jack Bradham, Founder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rgbClr val="0A2540"/>
                </a:solidFill>
                <a:latin typeface="Arial" pitchFamily="34" charset="0"/>
                <a:ea typeface="Arial" pitchFamily="34" charset="-122"/>
                <a:cs typeface="Arial" pitchFamily="34" charset="-120"/>
              </a:rPr>
              <a:t>The Scene</a:t>
            </a:r>
            <a:endParaRPr lang="en-US" sz="2800" dirty="0"/>
          </a:p>
        </p:txBody>
      </p:sp>
      <p:sp>
        <p:nvSpPr>
          <p:cNvPr id="4" name="Text 2"/>
          <p:cNvSpPr/>
          <p:nvPr/>
        </p:nvSpPr>
        <p:spPr>
          <a:xfrm>
            <a:off x="548640" y="914400"/>
            <a:ext cx="7772400" cy="457200"/>
          </a:xfrm>
          <a:prstGeom prst="rect">
            <a:avLst/>
          </a:prstGeom>
          <a:noFill/>
          <a:ln/>
        </p:spPr>
        <p:txBody>
          <a:bodyPr wrap="square" lIns="0" tIns="0" rIns="0" bIns="0" rtlCol="0" anchor="ctr"/>
          <a:lstStyle/>
          <a:p>
            <a:pPr indent="0" marL="0">
              <a:buNone/>
            </a:pPr>
            <a:r>
              <a:rPr lang="en-US" sz="1800" b="1" dirty="0">
                <a:solidFill>
                  <a:srgbClr val="0A2540"/>
                </a:solidFill>
                <a:latin typeface="Arial" pitchFamily="34" charset="0"/>
                <a:ea typeface="Arial" pitchFamily="34" charset="-122"/>
                <a:cs typeface="Arial" pitchFamily="34" charset="-120"/>
              </a:rPr>
              <a:t>It’s Friday at 4:30pm.</a:t>
            </a:r>
            <a:endParaRPr lang="en-US" sz="1800" dirty="0"/>
          </a:p>
        </p:txBody>
      </p:sp>
      <p:sp>
        <p:nvSpPr>
          <p:cNvPr id="5" name="Text 3"/>
          <p:cNvSpPr/>
          <p:nvPr/>
        </p:nvSpPr>
        <p:spPr>
          <a:xfrm>
            <a:off x="548640" y="1463040"/>
            <a:ext cx="7772400" cy="2194560"/>
          </a:xfrm>
          <a:prstGeom prst="rect">
            <a:avLst/>
          </a:prstGeom>
          <a:noFill/>
          <a:ln/>
        </p:spPr>
        <p:txBody>
          <a:bodyPr wrap="square" lIns="0" tIns="0" rIns="0" bIns="0" rtlCol="0" anchor="ctr"/>
          <a:lstStyle/>
          <a:p>
            <a:pPr indent="0" marL="0">
              <a:lnSpc>
                <a:spcPct val="150000"/>
              </a:lnSpc>
              <a:buNone/>
            </a:pPr>
            <a:r>
              <a:rPr lang="en-US" sz="1400" dirty="0">
                <a:solidFill>
                  <a:srgbClr val="425466"/>
                </a:solidFill>
                <a:latin typeface="Arial" pitchFamily="34" charset="0"/>
                <a:ea typeface="Arial" pitchFamily="34" charset="-122"/>
                <a:cs typeface="Arial" pitchFamily="34" charset="-120"/>
              </a:rPr>
              <a:t>A dispatcher at a mid-size charter operator is on her third call in ten minutes. The 6pm out of Teterboro just added a passenger. Flight attendant staffing is now wrong. Catering needs to change. The FBO needs an updated manifest before wheels-up. The customer texted an hour ago asking for a status update she hasn’t had time to send.</a:t>
            </a:r>
            <a:endParaRPr lang="en-US" sz="1400" dirty="0"/>
          </a:p>
          <a:p>
            <a:pPr indent="0" marL="0">
              <a:lnSpc>
                <a:spcPct val="150000"/>
              </a:lnSpc>
              <a:buNone/>
            </a:pPr>
            <a:endParaRPr lang="en-US" sz="1400" dirty="0"/>
          </a:p>
          <a:p>
            <a:pPr indent="0" marL="0">
              <a:lnSpc>
                <a:spcPct val="150000"/>
              </a:lnSpc>
              <a:buNone/>
            </a:pPr>
            <a:r>
              <a:rPr lang="en-US" sz="1400" dirty="0">
                <a:solidFill>
                  <a:srgbClr val="425466"/>
                </a:solidFill>
                <a:latin typeface="Arial" pitchFamily="34" charset="0"/>
                <a:ea typeface="Arial" pitchFamily="34" charset="-122"/>
                <a:cs typeface="Arial" pitchFamily="34" charset="-120"/>
              </a:rPr>
              <a:t>There’s a quote request from a broker she’s been cultivating for months. She won’t get to it until Monday.</a:t>
            </a:r>
            <a:endParaRPr lang="en-US" sz="1400" dirty="0"/>
          </a:p>
        </p:txBody>
      </p:sp>
      <p:sp>
        <p:nvSpPr>
          <p:cNvPr id="6" name="Text 4"/>
          <p:cNvSpPr/>
          <p:nvPr/>
        </p:nvSpPr>
        <p:spPr>
          <a:xfrm>
            <a:off x="548640" y="3840480"/>
            <a:ext cx="7315200" cy="457200"/>
          </a:xfrm>
          <a:prstGeom prst="rect">
            <a:avLst/>
          </a:prstGeom>
          <a:noFill/>
          <a:ln/>
        </p:spPr>
        <p:txBody>
          <a:bodyPr wrap="square" lIns="0" tIns="0" rIns="0" bIns="0" rtlCol="0" anchor="ctr"/>
          <a:lstStyle/>
          <a:p>
            <a:pPr indent="0" marL="0">
              <a:buNone/>
            </a:pPr>
            <a:r>
              <a:rPr lang="en-US" sz="1600" b="1" i="1" dirty="0">
                <a:solidFill>
                  <a:srgbClr val="2E75B6"/>
                </a:solidFill>
                <a:latin typeface="Arial" pitchFamily="34" charset="0"/>
                <a:ea typeface="Arial" pitchFamily="34" charset="-122"/>
                <a:cs typeface="Arial" pitchFamily="34" charset="-120"/>
              </a:rPr>
              <a:t>It’s not that today is a bad day. Today is every day.</a:t>
            </a:r>
            <a:endParaRPr lang="en-US" sz="1600" dirty="0"/>
          </a:p>
        </p:txBody>
      </p:sp>
      <p:sp>
        <p:nvSpPr>
          <p:cNvPr id="7" name="Text 5"/>
          <p:cNvSpPr/>
          <p:nvPr/>
        </p:nvSpPr>
        <p:spPr>
          <a:xfrm>
            <a:off x="548640" y="4389120"/>
            <a:ext cx="7315200" cy="457200"/>
          </a:xfrm>
          <a:prstGeom prst="rect">
            <a:avLst/>
          </a:prstGeom>
          <a:noFill/>
          <a:ln/>
        </p:spPr>
        <p:txBody>
          <a:bodyPr wrap="square" lIns="0" tIns="0" rIns="0" bIns="0" rtlCol="0" anchor="ctr"/>
          <a:lstStyle/>
          <a:p>
            <a:pPr indent="0" marL="0">
              <a:buNone/>
            </a:pPr>
            <a:r>
              <a:rPr lang="en-US" sz="1200" dirty="0">
                <a:solidFill>
                  <a:srgbClr val="8898AA"/>
                </a:solidFill>
                <a:latin typeface="Arial" pitchFamily="34" charset="0"/>
                <a:ea typeface="Arial" pitchFamily="34" charset="-122"/>
                <a:cs typeface="Arial" pitchFamily="34" charset="-120"/>
              </a:rPr>
              <a:t>Half her day is coordination work. That’s where agents are strongest and existing software is weakest.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rgbClr val="0A2540"/>
                </a:solidFill>
                <a:latin typeface="Arial" pitchFamily="34" charset="0"/>
                <a:ea typeface="Arial" pitchFamily="34" charset="-122"/>
                <a:cs typeface="Arial" pitchFamily="34" charset="-120"/>
              </a:rPr>
              <a:t>Why the Category Is Broken</a:t>
            </a:r>
            <a:endParaRPr lang="en-US" sz="2800" dirty="0"/>
          </a:p>
        </p:txBody>
      </p:sp>
      <p:sp>
        <p:nvSpPr>
          <p:cNvPr id="4" name="Shape 2"/>
          <p:cNvSpPr/>
          <p:nvPr/>
        </p:nvSpPr>
        <p:spPr>
          <a:xfrm>
            <a:off x="548640" y="1097280"/>
            <a:ext cx="8046720" cy="777240"/>
          </a:xfrm>
          <a:prstGeom prst="rect">
            <a:avLst>
              <a:gd name="adj" fmla="val 5882"/>
            </a:avLst>
          </a:prstGeom>
          <a:solidFill>
            <a:srgbClr val="FFFFFF"/>
          </a:solidFill>
          <a:ln/>
          <a:effectLst>
            <a:outerShdw sx="100000" sy="100000" kx="0" ky="0" algn="bl" rotWithShape="0" blurRad="76200" dist="25400" dir="8100000">
              <a:srgbClr val="000000">
                <a:alpha val="12000"/>
              </a:srgbClr>
            </a:outerShdw>
          </a:effectLst>
        </p:spPr>
      </p:sp>
      <p:sp>
        <p:nvSpPr>
          <p:cNvPr id="5" name="Text 3"/>
          <p:cNvSpPr/>
          <p:nvPr/>
        </p:nvSpPr>
        <p:spPr>
          <a:xfrm>
            <a:off x="777240" y="1188720"/>
            <a:ext cx="7589520" cy="594360"/>
          </a:xfrm>
          <a:prstGeom prst="rect">
            <a:avLst/>
          </a:prstGeom>
          <a:noFill/>
          <a:ln/>
        </p:spPr>
        <p:txBody>
          <a:bodyPr wrap="square" lIns="0" tIns="0" rIns="0" bIns="0" rtlCol="0" anchor="ctr"/>
          <a:lstStyle/>
          <a:p>
            <a:pPr indent="0" marL="0">
              <a:buNone/>
            </a:pPr>
            <a:r>
              <a:rPr lang="en-US" sz="1300" b="1" dirty="0">
                <a:solidFill>
                  <a:srgbClr val="0A2540"/>
                </a:solidFill>
                <a:latin typeface="Arial" pitchFamily="34" charset="0"/>
                <a:ea typeface="Arial" pitchFamily="34" charset="-122"/>
                <a:cs typeface="Arial" pitchFamily="34" charset="-120"/>
              </a:rPr>
              <a:t>Avinode, FL3XX, and the enterprise platforms do quoting and fleet visibility well. </a:t>
            </a:r>
            <a:pPr indent="0" marL="0">
              <a:buNone/>
            </a:pPr>
            <a:r>
              <a:rPr lang="en-US" sz="1300" dirty="0">
                <a:solidFill>
                  <a:srgbClr val="425466"/>
                </a:solidFill>
                <a:latin typeface="Arial" pitchFamily="34" charset="0"/>
                <a:ea typeface="Arial" pitchFamily="34" charset="-122"/>
                <a:cs typeface="Arial" pitchFamily="34" charset="-120"/>
              </a:rPr>
              <a:t>What they don’t do is the coordination work itself.</a:t>
            </a:r>
            <a:endParaRPr lang="en-US" sz="1300" dirty="0"/>
          </a:p>
        </p:txBody>
      </p:sp>
      <p:sp>
        <p:nvSpPr>
          <p:cNvPr id="6" name="Shape 4"/>
          <p:cNvSpPr/>
          <p:nvPr/>
        </p:nvSpPr>
        <p:spPr>
          <a:xfrm>
            <a:off x="548640" y="2011680"/>
            <a:ext cx="8046720" cy="777240"/>
          </a:xfrm>
          <a:prstGeom prst="rect">
            <a:avLst>
              <a:gd name="adj" fmla="val 5882"/>
            </a:avLst>
          </a:prstGeom>
          <a:solidFill>
            <a:srgbClr val="FFFFFF"/>
          </a:solidFill>
          <a:ln/>
          <a:effectLst>
            <a:outerShdw sx="100000" sy="100000" kx="0" ky="0" algn="bl" rotWithShape="0" blurRad="76200" dist="25400" dir="8100000">
              <a:srgbClr val="000000">
                <a:alpha val="12000"/>
              </a:srgbClr>
            </a:outerShdw>
          </a:effectLst>
        </p:spPr>
      </p:sp>
      <p:sp>
        <p:nvSpPr>
          <p:cNvPr id="7" name="Text 5"/>
          <p:cNvSpPr/>
          <p:nvPr/>
        </p:nvSpPr>
        <p:spPr>
          <a:xfrm>
            <a:off x="777240" y="2103120"/>
            <a:ext cx="7589520" cy="594360"/>
          </a:xfrm>
          <a:prstGeom prst="rect">
            <a:avLst/>
          </a:prstGeom>
          <a:noFill/>
          <a:ln/>
        </p:spPr>
        <p:txBody>
          <a:bodyPr wrap="square" lIns="0" tIns="0" rIns="0" bIns="0" rtlCol="0" anchor="ctr"/>
          <a:lstStyle/>
          <a:p>
            <a:pPr indent="0" marL="0">
              <a:buNone/>
            </a:pPr>
            <a:r>
              <a:rPr lang="en-US" sz="1300" b="1" dirty="0">
                <a:solidFill>
                  <a:srgbClr val="0A2540"/>
                </a:solidFill>
                <a:latin typeface="Arial" pitchFamily="34" charset="0"/>
                <a:ea typeface="Arial" pitchFamily="34" charset="-122"/>
                <a:cs typeface="Arial" pitchFamily="34" charset="-120"/>
              </a:rPr>
              <a:t>Seat-license pricing is out of reach for most broker-operators. </a:t>
            </a:r>
            <a:pPr indent="0" marL="0">
              <a:buNone/>
            </a:pPr>
            <a:r>
              <a:rPr lang="en-US" sz="1300" dirty="0">
                <a:solidFill>
                  <a:srgbClr val="425466"/>
                </a:solidFill>
                <a:latin typeface="Arial" pitchFamily="34" charset="0"/>
                <a:ea typeface="Arial" pitchFamily="34" charset="-122"/>
                <a:cs typeface="Arial" pitchFamily="34" charset="-120"/>
              </a:rPr>
              <a:t>The teams that most need help can’t afford the tools.</a:t>
            </a:r>
            <a:endParaRPr lang="en-US" sz="1300" dirty="0"/>
          </a:p>
        </p:txBody>
      </p:sp>
      <p:sp>
        <p:nvSpPr>
          <p:cNvPr id="8" name="Shape 6"/>
          <p:cNvSpPr/>
          <p:nvPr/>
        </p:nvSpPr>
        <p:spPr>
          <a:xfrm>
            <a:off x="548640" y="2926080"/>
            <a:ext cx="8046720" cy="777240"/>
          </a:xfrm>
          <a:prstGeom prst="rect">
            <a:avLst>
              <a:gd name="adj" fmla="val 5882"/>
            </a:avLst>
          </a:prstGeom>
          <a:solidFill>
            <a:srgbClr val="FFFFFF"/>
          </a:solidFill>
          <a:ln/>
          <a:effectLst>
            <a:outerShdw sx="100000" sy="100000" kx="0" ky="0" algn="bl" rotWithShape="0" blurRad="76200" dist="25400" dir="8100000">
              <a:srgbClr val="000000">
                <a:alpha val="12000"/>
              </a:srgbClr>
            </a:outerShdw>
          </a:effectLst>
        </p:spPr>
      </p:sp>
      <p:sp>
        <p:nvSpPr>
          <p:cNvPr id="9" name="Text 7"/>
          <p:cNvSpPr/>
          <p:nvPr/>
        </p:nvSpPr>
        <p:spPr>
          <a:xfrm>
            <a:off x="777240" y="3017520"/>
            <a:ext cx="7589520" cy="594360"/>
          </a:xfrm>
          <a:prstGeom prst="rect">
            <a:avLst/>
          </a:prstGeom>
          <a:noFill/>
          <a:ln/>
        </p:spPr>
        <p:txBody>
          <a:bodyPr wrap="square" lIns="0" tIns="0" rIns="0" bIns="0" rtlCol="0" anchor="ctr"/>
          <a:lstStyle/>
          <a:p>
            <a:pPr indent="0" marL="0">
              <a:buNone/>
            </a:pPr>
            <a:r>
              <a:rPr lang="en-US" sz="1300" b="1" dirty="0">
                <a:solidFill>
                  <a:srgbClr val="0A2540"/>
                </a:solidFill>
                <a:latin typeface="Arial" pitchFamily="34" charset="0"/>
                <a:ea typeface="Arial" pitchFamily="34" charset="-122"/>
                <a:cs typeface="Arial" pitchFamily="34" charset="-120"/>
              </a:rPr>
              <a:t>Even operators who pay still run their real day on WhatsApp, email, and sticky notes. </a:t>
            </a:r>
            <a:pPr indent="0" marL="0">
              <a:buNone/>
            </a:pPr>
            <a:r>
              <a:rPr lang="en-US" sz="1300" dirty="0">
                <a:solidFill>
                  <a:srgbClr val="425466"/>
                </a:solidFill>
                <a:latin typeface="Arial" pitchFamily="34" charset="0"/>
                <a:ea typeface="Arial" pitchFamily="34" charset="-122"/>
                <a:cs typeface="Arial" pitchFamily="34" charset="-120"/>
              </a:rPr>
              <a:t>The dispatcher still chases the caterer manually.</a:t>
            </a:r>
            <a:endParaRPr lang="en-US" sz="1300" dirty="0"/>
          </a:p>
        </p:txBody>
      </p:sp>
      <p:sp>
        <p:nvSpPr>
          <p:cNvPr id="10" name="Shape 8"/>
          <p:cNvSpPr/>
          <p:nvPr/>
        </p:nvSpPr>
        <p:spPr>
          <a:xfrm>
            <a:off x="548640" y="3840480"/>
            <a:ext cx="8046720" cy="777240"/>
          </a:xfrm>
          <a:prstGeom prst="rect">
            <a:avLst>
              <a:gd name="adj" fmla="val 5882"/>
            </a:avLst>
          </a:prstGeom>
          <a:solidFill>
            <a:srgbClr val="FFFFFF"/>
          </a:solidFill>
          <a:ln/>
          <a:effectLst>
            <a:outerShdw sx="100000" sy="100000" kx="0" ky="0" algn="bl" rotWithShape="0" blurRad="76200" dist="25400" dir="8100000">
              <a:srgbClr val="000000">
                <a:alpha val="12000"/>
              </a:srgbClr>
            </a:outerShdw>
          </a:effectLst>
        </p:spPr>
      </p:sp>
      <p:sp>
        <p:nvSpPr>
          <p:cNvPr id="11" name="Text 9"/>
          <p:cNvSpPr/>
          <p:nvPr/>
        </p:nvSpPr>
        <p:spPr>
          <a:xfrm>
            <a:off x="777240" y="3931920"/>
            <a:ext cx="7589520" cy="594360"/>
          </a:xfrm>
          <a:prstGeom prst="rect">
            <a:avLst/>
          </a:prstGeom>
          <a:noFill/>
          <a:ln/>
        </p:spPr>
        <p:txBody>
          <a:bodyPr wrap="square" lIns="0" tIns="0" rIns="0" bIns="0" rtlCol="0" anchor="ctr"/>
          <a:lstStyle/>
          <a:p>
            <a:pPr indent="0" marL="0">
              <a:buNone/>
            </a:pPr>
            <a:r>
              <a:rPr lang="en-US" sz="1300" b="1" dirty="0">
                <a:solidFill>
                  <a:srgbClr val="0A2540"/>
                </a:solidFill>
                <a:latin typeface="Arial" pitchFamily="34" charset="0"/>
                <a:ea typeface="Arial" pitchFamily="34" charset="-122"/>
                <a:cs typeface="Arial" pitchFamily="34" charset="-120"/>
              </a:rPr>
              <a:t>The category spent a decade building control panels for a job that needed a colleague. </a:t>
            </a:r>
            <a:pPr indent="0" marL="0">
              <a:buNone/>
            </a:pPr>
            <a:r>
              <a:rPr lang="en-US" sz="1300" dirty="0">
                <a:solidFill>
                  <a:srgbClr val="425466"/>
                </a:solidFill>
                <a:latin typeface="Arial" pitchFamily="34" charset="0"/>
                <a:ea typeface="Arial" pitchFamily="34" charset="-122"/>
                <a:cs typeface="Arial" pitchFamily="34" charset="-120"/>
              </a:rPr>
              <a:t>A dashboard can show you the work. It cannot do 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C5962A"/>
          </a:solidFill>
          <a:ln/>
        </p:spPr>
      </p:sp>
      <p:sp>
        <p:nvSpPr>
          <p:cNvPr id="3" name="Text 1"/>
          <p:cNvSpPr/>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What GoFlight Is</a:t>
            </a:r>
            <a:endParaRPr lang="en-US" sz="2800" dirty="0"/>
          </a:p>
        </p:txBody>
      </p:sp>
      <p:sp>
        <p:nvSpPr>
          <p:cNvPr id="4" name="Text 2"/>
          <p:cNvSpPr/>
          <p:nvPr/>
        </p:nvSpPr>
        <p:spPr>
          <a:xfrm>
            <a:off x="548640" y="1005840"/>
            <a:ext cx="7772400" cy="548640"/>
          </a:xfrm>
          <a:prstGeom prst="rect">
            <a:avLst/>
          </a:prstGeom>
          <a:noFill/>
          <a:ln/>
        </p:spPr>
        <p:txBody>
          <a:bodyPr wrap="square" lIns="0" tIns="0" rIns="0" bIns="0" rtlCol="0" anchor="ctr"/>
          <a:lstStyle/>
          <a:p>
            <a:pPr indent="0" marL="0">
              <a:buNone/>
            </a:pPr>
            <a:r>
              <a:rPr lang="en-US" sz="1600" b="1" dirty="0">
                <a:solidFill>
                  <a:srgbClr val="C5962A"/>
                </a:solidFill>
                <a:latin typeface="Arial" pitchFamily="34" charset="0"/>
                <a:ea typeface="Arial" pitchFamily="34" charset="-122"/>
                <a:cs typeface="Arial" pitchFamily="34" charset="-120"/>
              </a:rPr>
              <a:t>A charter operations platform for 10–30 aircraft US owner-operators who run their own booking.</a:t>
            </a:r>
            <a:endParaRPr lang="en-US" sz="1600" dirty="0"/>
          </a:p>
        </p:txBody>
      </p:sp>
      <p:sp>
        <p:nvSpPr>
          <p:cNvPr id="5" name="Text 3"/>
          <p:cNvSpPr/>
          <p:nvPr/>
        </p:nvSpPr>
        <p:spPr>
          <a:xfrm>
            <a:off x="548640" y="1691640"/>
            <a:ext cx="7772400" cy="45720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Our agent is named Flyn. Flyn is an always-on teammate, not a feature.</a:t>
            </a:r>
            <a:endParaRPr lang="en-US" sz="1400" dirty="0"/>
          </a:p>
        </p:txBody>
      </p:sp>
      <p:sp>
        <p:nvSpPr>
          <p:cNvPr id="6" name="Text 4"/>
          <p:cNvSpPr/>
          <p:nvPr/>
        </p:nvSpPr>
        <p:spPr>
          <a:xfrm>
            <a:off x="548640" y="2377440"/>
            <a:ext cx="7772400" cy="2011680"/>
          </a:xfrm>
          <a:prstGeom prst="rect">
            <a:avLst/>
          </a:prstGeom>
          <a:noFill/>
          <a:ln/>
        </p:spPr>
        <p:txBody>
          <a:bodyPr wrap="square" lIns="0" tIns="0" rIns="0" bIns="0" rtlCol="0" anchor="ctr"/>
          <a:lstStyle/>
          <a:p>
            <a:pPr marL="342900" indent="-342900">
              <a:buSzPct val="100000"/>
              <a:buChar char="•"/>
            </a:pPr>
            <a:r>
              <a:rPr lang="en-US" sz="1400" dirty="0">
                <a:solidFill>
                  <a:srgbClr val="FFFFFF"/>
                </a:solidFill>
                <a:latin typeface="Arial" pitchFamily="34" charset="0"/>
                <a:ea typeface="Arial" pitchFamily="34" charset="-122"/>
                <a:cs typeface="Arial" pitchFamily="34" charset="-120"/>
              </a:rPr>
              <a:t>Chases vendors so the dispatcher doesn’t have to</a:t>
            </a:r>
            <a:endParaRPr lang="en-US" sz="1400" dirty="0"/>
          </a:p>
          <a:p>
            <a:pPr marL="342900" indent="-342900">
              <a:buSzPct val="100000"/>
              <a:buChar char="•"/>
            </a:pPr>
            <a:r>
              <a:rPr lang="en-US" sz="1400" dirty="0">
                <a:solidFill>
                  <a:srgbClr val="FFFFFF"/>
                </a:solidFill>
                <a:latin typeface="Arial" pitchFamily="34" charset="0"/>
                <a:ea typeface="Arial" pitchFamily="34" charset="-122"/>
                <a:cs typeface="Arial" pitchFamily="34" charset="-120"/>
              </a:rPr>
              <a:t>Propagates changes across 8 parties when a trip detail moves</a:t>
            </a:r>
            <a:endParaRPr lang="en-US" sz="1400" dirty="0"/>
          </a:p>
          <a:p>
            <a:pPr marL="342900" indent="-342900">
              <a:buSzPct val="100000"/>
              <a:buChar char="•"/>
            </a:pPr>
            <a:r>
              <a:rPr lang="en-US" sz="1400" dirty="0">
                <a:solidFill>
                  <a:srgbClr val="FFFFFF"/>
                </a:solidFill>
                <a:latin typeface="Arial" pitchFamily="34" charset="0"/>
                <a:ea typeface="Arial" pitchFamily="34" charset="-122"/>
                <a:cs typeface="Arial" pitchFamily="34" charset="-120"/>
              </a:rPr>
              <a:t>Tracks every trip and flags what’s missing before the customer notices</a:t>
            </a:r>
            <a:endParaRPr lang="en-US" sz="1400" dirty="0"/>
          </a:p>
          <a:p>
            <a:pPr marL="342900" indent="-342900">
              <a:buSzPct val="100000"/>
              <a:buChar char="•"/>
            </a:pPr>
            <a:r>
              <a:rPr lang="en-US" sz="1400" dirty="0">
                <a:solidFill>
                  <a:srgbClr val="FFFFFF"/>
                </a:solidFill>
                <a:latin typeface="Arial" pitchFamily="34" charset="0"/>
                <a:ea typeface="Arial" pitchFamily="34" charset="-122"/>
                <a:cs typeface="Arial" pitchFamily="34" charset="-120"/>
              </a:rPr>
              <a:t>Collects compliance docs before the trip starts</a:t>
            </a:r>
            <a:endParaRPr lang="en-US" sz="1400" dirty="0"/>
          </a:p>
          <a:p>
            <a:pPr marL="342900" indent="-342900">
              <a:buSzPct val="100000"/>
              <a:buChar char="•"/>
            </a:pPr>
            <a:r>
              <a:rPr lang="en-US" sz="1400" dirty="0">
                <a:solidFill>
                  <a:srgbClr val="FFFFFF"/>
                </a:solidFill>
                <a:latin typeface="Arial" pitchFamily="34" charset="0"/>
                <a:ea typeface="Arial" pitchFamily="34" charset="-122"/>
                <a:cs typeface="Arial" pitchFamily="34" charset="-120"/>
              </a:rPr>
              <a:t>Works across voice, SMS, WhatsApp, and email</a:t>
            </a:r>
            <a:endParaRPr lang="en-US" sz="1400" dirty="0"/>
          </a:p>
        </p:txBody>
      </p:sp>
      <p:sp>
        <p:nvSpPr>
          <p:cNvPr id="7" name="Text 5"/>
          <p:cNvSpPr/>
          <p:nvPr/>
        </p:nvSpPr>
        <p:spPr>
          <a:xfrm>
            <a:off x="548640" y="4480560"/>
            <a:ext cx="7315200" cy="457200"/>
          </a:xfrm>
          <a:prstGeom prst="rect">
            <a:avLst/>
          </a:prstGeom>
          <a:noFill/>
          <a:ln/>
        </p:spPr>
        <p:txBody>
          <a:bodyPr wrap="square" lIns="0" tIns="0" rIns="0" bIns="0" rtlCol="0" anchor="ctr"/>
          <a:lstStyle/>
          <a:p>
            <a:pPr indent="0" marL="0">
              <a:buNone/>
            </a:pPr>
            <a:r>
              <a:rPr lang="en-US" sz="1200" i="1" dirty="0">
                <a:solidFill>
                  <a:srgbClr val="8898AA"/>
                </a:solidFill>
                <a:latin typeface="Arial" pitchFamily="34" charset="0"/>
                <a:ea typeface="Arial" pitchFamily="34" charset="-122"/>
                <a:cs typeface="Arial" pitchFamily="34" charset="-120"/>
              </a:rPr>
              <a:t>The effect is a force multiplier, not a replacement. More trips, same headcount, better experience.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rgbClr val="0A2540"/>
                </a:solidFill>
                <a:latin typeface="Arial" pitchFamily="34" charset="0"/>
                <a:ea typeface="Arial" pitchFamily="34" charset="-122"/>
                <a:cs typeface="Arial" pitchFamily="34" charset="-120"/>
              </a:rPr>
              <a:t>Who This Is For</a:t>
            </a:r>
            <a:endParaRPr lang="en-US" sz="2800" dirty="0"/>
          </a:p>
        </p:txBody>
      </p:sp>
      <p:sp>
        <p:nvSpPr>
          <p:cNvPr id="4" name="Shape 2"/>
          <p:cNvSpPr/>
          <p:nvPr/>
        </p:nvSpPr>
        <p:spPr>
          <a:xfrm>
            <a:off x="548640" y="1005840"/>
            <a:ext cx="374904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Text 3"/>
          <p:cNvSpPr/>
          <p:nvPr/>
        </p:nvSpPr>
        <p:spPr>
          <a:xfrm>
            <a:off x="777240" y="1097280"/>
            <a:ext cx="3291840" cy="365760"/>
          </a:xfrm>
          <a:prstGeom prst="rect">
            <a:avLst/>
          </a:prstGeom>
          <a:noFill/>
          <a:ln/>
        </p:spPr>
        <p:txBody>
          <a:bodyPr wrap="square" lIns="0" tIns="0" rIns="0" bIns="0" rtlCol="0" anchor="ctr"/>
          <a:lstStyle/>
          <a:p>
            <a:pPr indent="0" marL="0">
              <a:buNone/>
            </a:pPr>
            <a:r>
              <a:rPr lang="en-US" sz="1100" b="1" spc="200" kern="0" dirty="0">
                <a:solidFill>
                  <a:srgbClr val="2E75B6"/>
                </a:solidFill>
                <a:latin typeface="Arial" pitchFamily="34" charset="0"/>
                <a:ea typeface="Arial" pitchFamily="34" charset="-122"/>
                <a:cs typeface="Arial" pitchFamily="34" charset="-120"/>
              </a:rPr>
              <a:t>BEACHHEAD (FIRST 90 DAYS)</a:t>
            </a:r>
            <a:endParaRPr lang="en-US" sz="1100" dirty="0"/>
          </a:p>
        </p:txBody>
      </p:sp>
      <p:sp>
        <p:nvSpPr>
          <p:cNvPr id="6" name="Text 4"/>
          <p:cNvSpPr/>
          <p:nvPr/>
        </p:nvSpPr>
        <p:spPr>
          <a:xfrm>
            <a:off x="777240" y="1554480"/>
            <a:ext cx="3291840" cy="914400"/>
          </a:xfrm>
          <a:prstGeom prst="rect">
            <a:avLst/>
          </a:prstGeom>
          <a:noFill/>
          <a:ln/>
        </p:spPr>
        <p:txBody>
          <a:bodyPr wrap="square" lIns="0" tIns="0" rIns="0" bIns="0" rtlCol="0" anchor="ctr"/>
          <a:lstStyle/>
          <a:p>
            <a:pPr indent="0" marL="0">
              <a:lnSpc>
                <a:spcPct val="130000"/>
              </a:lnSpc>
              <a:buNone/>
            </a:pPr>
            <a:r>
              <a:rPr lang="en-US" sz="1600" b="1" dirty="0">
                <a:solidFill>
                  <a:srgbClr val="0A2540"/>
                </a:solidFill>
                <a:latin typeface="Arial" pitchFamily="34" charset="0"/>
                <a:ea typeface="Arial" pitchFamily="34" charset="-122"/>
                <a:cs typeface="Arial" pitchFamily="34" charset="-120"/>
              </a:rPr>
              <a:t>US owner-operators</a:t>
            </a:r>
            <a:endParaRPr lang="en-US" sz="1600" dirty="0"/>
          </a:p>
          <a:p>
            <a:pPr indent="0" marL="0">
              <a:lnSpc>
                <a:spcPct val="130000"/>
              </a:lnSpc>
              <a:buNone/>
            </a:pPr>
            <a:r>
              <a:rPr lang="en-US" sz="1600" b="1" dirty="0">
                <a:solidFill>
                  <a:srgbClr val="0A2540"/>
                </a:solidFill>
                <a:latin typeface="Arial" pitchFamily="34" charset="0"/>
                <a:ea typeface="Arial" pitchFamily="34" charset="-122"/>
                <a:cs typeface="Arial" pitchFamily="34" charset="-120"/>
              </a:rPr>
              <a:t>10–30 aircraft</a:t>
            </a:r>
            <a:endParaRPr lang="en-US" sz="1600" dirty="0"/>
          </a:p>
          <a:p>
            <a:pPr indent="0" marL="0">
              <a:lnSpc>
                <a:spcPct val="130000"/>
              </a:lnSpc>
              <a:buNone/>
            </a:pPr>
            <a:r>
              <a:rPr lang="en-US" sz="1600" b="1" dirty="0">
                <a:solidFill>
                  <a:srgbClr val="0A2540"/>
                </a:solidFill>
                <a:latin typeface="Arial" pitchFamily="34" charset="0"/>
                <a:ea typeface="Arial" pitchFamily="34" charset="-122"/>
                <a:cs typeface="Arial" pitchFamily="34" charset="-120"/>
              </a:rPr>
              <a:t>Do their own booking in-house</a:t>
            </a:r>
            <a:endParaRPr lang="en-US" sz="1600" dirty="0"/>
          </a:p>
        </p:txBody>
      </p:sp>
      <p:sp>
        <p:nvSpPr>
          <p:cNvPr id="7" name="Text 5"/>
          <p:cNvSpPr/>
          <p:nvPr/>
        </p:nvSpPr>
        <p:spPr>
          <a:xfrm>
            <a:off x="777240" y="2560320"/>
            <a:ext cx="3291840" cy="914400"/>
          </a:xfrm>
          <a:prstGeom prst="rect">
            <a:avLst/>
          </a:prstGeom>
          <a:noFill/>
          <a:ln/>
        </p:spPr>
        <p:txBody>
          <a:bodyPr wrap="square" lIns="0" tIns="0" rIns="0" bIns="0" rtlCol="0" anchor="ctr"/>
          <a:lstStyle/>
          <a:p>
            <a:pPr indent="0" marL="0">
              <a:buNone/>
            </a:pPr>
            <a:r>
              <a:rPr lang="en-US" sz="1100" dirty="0">
                <a:solidFill>
                  <a:srgbClr val="425466"/>
                </a:solidFill>
                <a:latin typeface="Arial" pitchFamily="34" charset="0"/>
                <a:ea typeface="Arial" pitchFamily="34" charset="-122"/>
                <a:cs typeface="Arial" pitchFamily="34" charset="-120"/>
              </a:rPr>
              <a:t>~3,000–4,000 Part 135 certificate holders nationally. Our beachhead is the 10–30 aircraft mid-market — large enough to build a real business, narrow enough to serve deeply.</a:t>
            </a:r>
            <a:endParaRPr lang="en-US" sz="1100" dirty="0"/>
          </a:p>
        </p:txBody>
      </p:sp>
      <p:sp>
        <p:nvSpPr>
          <p:cNvPr id="8" name="Shape 6"/>
          <p:cNvSpPr/>
          <p:nvPr/>
        </p:nvSpPr>
        <p:spPr>
          <a:xfrm>
            <a:off x="4846320" y="1005840"/>
            <a:ext cx="3749040" cy="10972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Text 7"/>
          <p:cNvSpPr/>
          <p:nvPr/>
        </p:nvSpPr>
        <p:spPr>
          <a:xfrm>
            <a:off x="5074920" y="1097280"/>
            <a:ext cx="3291840" cy="365760"/>
          </a:xfrm>
          <a:prstGeom prst="rect">
            <a:avLst/>
          </a:prstGeom>
          <a:noFill/>
          <a:ln/>
        </p:spPr>
        <p:txBody>
          <a:bodyPr wrap="square" lIns="0" tIns="0" rIns="0" bIns="0" rtlCol="0" anchor="ctr"/>
          <a:lstStyle/>
          <a:p>
            <a:pPr indent="0" marL="0">
              <a:buNone/>
            </a:pPr>
            <a:r>
              <a:rPr lang="en-US" sz="1100" b="1" spc="200" kern="0" dirty="0">
                <a:solidFill>
                  <a:srgbClr val="2E75B6"/>
                </a:solidFill>
                <a:latin typeface="Arial" pitchFamily="34" charset="0"/>
                <a:ea typeface="Arial" pitchFamily="34" charset="-122"/>
                <a:cs typeface="Arial" pitchFamily="34" charset="-120"/>
              </a:rPr>
              <a:t>EXPANSION (MONTHS 4–12)</a:t>
            </a:r>
            <a:endParaRPr lang="en-US" sz="1100" dirty="0"/>
          </a:p>
        </p:txBody>
      </p:sp>
      <p:sp>
        <p:nvSpPr>
          <p:cNvPr id="10" name="Text 8"/>
          <p:cNvSpPr/>
          <p:nvPr/>
        </p:nvSpPr>
        <p:spPr>
          <a:xfrm>
            <a:off x="5074920" y="1508760"/>
            <a:ext cx="3291840" cy="548640"/>
          </a:xfrm>
          <a:prstGeom prst="rect">
            <a:avLst/>
          </a:prstGeom>
          <a:noFill/>
          <a:ln/>
        </p:spPr>
        <p:txBody>
          <a:bodyPr wrap="square" lIns="0" tIns="0" rIns="0" bIns="0" rtlCol="0" anchor="ctr"/>
          <a:lstStyle/>
          <a:p>
            <a:pPr indent="0" marL="0">
              <a:buNone/>
            </a:pPr>
            <a:r>
              <a:rPr lang="en-US" sz="1200" dirty="0">
                <a:solidFill>
                  <a:srgbClr val="425466"/>
                </a:solidFill>
                <a:latin typeface="Arial" pitchFamily="34" charset="0"/>
                <a:ea typeface="Arial" pitchFamily="34" charset="-122"/>
                <a:cs typeface="Arial" pitchFamily="34" charset="-120"/>
              </a:rPr>
              <a:t>Independent charter brokers who work with our operators. They come in through existing relationships, not cold acquisition.</a:t>
            </a:r>
            <a:endParaRPr lang="en-US" sz="1200" dirty="0"/>
          </a:p>
        </p:txBody>
      </p:sp>
      <p:sp>
        <p:nvSpPr>
          <p:cNvPr id="11" name="Shape 9"/>
          <p:cNvSpPr/>
          <p:nvPr/>
        </p:nvSpPr>
        <p:spPr>
          <a:xfrm>
            <a:off x="4846320" y="2286000"/>
            <a:ext cx="3749040" cy="12801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Text 10"/>
          <p:cNvSpPr/>
          <p:nvPr/>
        </p:nvSpPr>
        <p:spPr>
          <a:xfrm>
            <a:off x="5074920" y="2377440"/>
            <a:ext cx="3291840" cy="365760"/>
          </a:xfrm>
          <a:prstGeom prst="rect">
            <a:avLst/>
          </a:prstGeom>
          <a:noFill/>
          <a:ln/>
        </p:spPr>
        <p:txBody>
          <a:bodyPr wrap="square" lIns="0" tIns="0" rIns="0" bIns="0" rtlCol="0" anchor="ctr"/>
          <a:lstStyle/>
          <a:p>
            <a:pPr indent="0" marL="0">
              <a:buNone/>
            </a:pPr>
            <a:r>
              <a:rPr lang="en-US" sz="1100" b="1" spc="200" kern="0" dirty="0">
                <a:solidFill>
                  <a:srgbClr val="E63946"/>
                </a:solidFill>
                <a:latin typeface="Arial" pitchFamily="34" charset="0"/>
                <a:ea typeface="Arial" pitchFamily="34" charset="-122"/>
                <a:cs typeface="Arial" pitchFamily="34" charset="-120"/>
              </a:rPr>
              <a:t>NOT A TARGET (YET)</a:t>
            </a:r>
            <a:endParaRPr lang="en-US" sz="1100" dirty="0"/>
          </a:p>
        </p:txBody>
      </p:sp>
      <p:sp>
        <p:nvSpPr>
          <p:cNvPr id="13" name="Text 11"/>
          <p:cNvSpPr/>
          <p:nvPr/>
        </p:nvSpPr>
        <p:spPr>
          <a:xfrm>
            <a:off x="5074920" y="2788920"/>
            <a:ext cx="3291840" cy="731520"/>
          </a:xfrm>
          <a:prstGeom prst="rect">
            <a:avLst/>
          </a:prstGeom>
          <a:noFill/>
          <a:ln/>
        </p:spPr>
        <p:txBody>
          <a:bodyPr wrap="square" lIns="0" tIns="0" rIns="0" bIns="0" rtlCol="0" anchor="ctr"/>
          <a:lstStyle/>
          <a:p>
            <a:pPr indent="0" marL="0">
              <a:buNone/>
            </a:pPr>
            <a:r>
              <a:rPr lang="en-US" sz="1200" dirty="0">
                <a:solidFill>
                  <a:srgbClr val="425466"/>
                </a:solidFill>
                <a:latin typeface="Arial" pitchFamily="34" charset="0"/>
                <a:ea typeface="Arial" pitchFamily="34" charset="-122"/>
                <a:cs typeface="Arial" pitchFamily="34" charset="-120"/>
              </a:rPr>
              <a:t>Enterprise operators with 50+ aircraft and dedicated IT. That’s where well-funded competitors are focused. Their procurement cycles are not a fit for our stage.</a:t>
            </a:r>
            <a:endParaRPr lang="en-US" sz="1200" dirty="0"/>
          </a:p>
        </p:txBody>
      </p:sp>
      <p:sp>
        <p:nvSpPr>
          <p:cNvPr id="14" name="Text 12"/>
          <p:cNvSpPr/>
          <p:nvPr/>
        </p:nvSpPr>
        <p:spPr>
          <a:xfrm>
            <a:off x="548640" y="3931920"/>
            <a:ext cx="7315200" cy="365760"/>
          </a:xfrm>
          <a:prstGeom prst="rect">
            <a:avLst/>
          </a:prstGeom>
          <a:noFill/>
          <a:ln/>
        </p:spPr>
        <p:txBody>
          <a:bodyPr wrap="square" lIns="0" tIns="0" rIns="0" bIns="0" rtlCol="0" anchor="ctr"/>
          <a:lstStyle/>
          <a:p>
            <a:pPr indent="0" marL="0">
              <a:buNone/>
            </a:pPr>
            <a:r>
              <a:rPr lang="en-US" sz="1200" i="1" dirty="0">
                <a:solidFill>
                  <a:srgbClr val="8898AA"/>
                </a:solidFill>
                <a:latin typeface="Arial" pitchFamily="34" charset="0"/>
                <a:ea typeface="Arial" pitchFamily="34" charset="-122"/>
                <a:cs typeface="Arial" pitchFamily="34" charset="-120"/>
              </a:rPr>
              <a:t>We serve them later, when the product and the company are ready for them.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rgbClr val="0A2540"/>
                </a:solidFill>
                <a:latin typeface="Arial" pitchFamily="34" charset="0"/>
                <a:ea typeface="Arial" pitchFamily="34" charset="-122"/>
                <a:cs typeface="Arial" pitchFamily="34" charset="-120"/>
              </a:rPr>
              <a:t>Why Now</a:t>
            </a:r>
            <a:endParaRPr lang="en-US" sz="2800" dirty="0"/>
          </a:p>
        </p:txBody>
      </p:sp>
      <p:sp>
        <p:nvSpPr>
          <p:cNvPr id="4" name="Shape 2"/>
          <p:cNvSpPr/>
          <p:nvPr/>
        </p:nvSpPr>
        <p:spPr>
          <a:xfrm>
            <a:off x="548640" y="1005840"/>
            <a:ext cx="8046720" cy="868680"/>
          </a:xfrm>
          <a:prstGeom prst="rect">
            <a:avLst>
              <a:gd name="adj" fmla="val 5263"/>
            </a:avLst>
          </a:prstGeom>
          <a:solidFill>
            <a:srgbClr val="FFFFFF"/>
          </a:solidFill>
          <a:ln/>
          <a:effectLst>
            <a:outerShdw sx="100000" sy="100000" kx="0" ky="0" algn="bl" rotWithShape="0" blurRad="76200" dist="25400" dir="8100000">
              <a:srgbClr val="000000">
                <a:alpha val="12000"/>
              </a:srgbClr>
            </a:outerShdw>
          </a:effectLst>
        </p:spPr>
      </p:sp>
      <p:sp>
        <p:nvSpPr>
          <p:cNvPr id="5" name="Text 3"/>
          <p:cNvSpPr/>
          <p:nvPr/>
        </p:nvSpPr>
        <p:spPr>
          <a:xfrm>
            <a:off x="777240" y="1078992"/>
            <a:ext cx="7589520" cy="731520"/>
          </a:xfrm>
          <a:prstGeom prst="rect">
            <a:avLst/>
          </a:prstGeom>
          <a:noFill/>
          <a:ln/>
        </p:spPr>
        <p:txBody>
          <a:bodyPr wrap="square" lIns="0" tIns="0" rIns="0" bIns="0" rtlCol="0" anchor="ctr"/>
          <a:lstStyle/>
          <a:p>
            <a:pPr indent="0" marL="0">
              <a:buNone/>
            </a:pPr>
            <a:r>
              <a:rPr lang="en-US" sz="1400" b="1" dirty="0">
                <a:solidFill>
                  <a:srgbClr val="0A2540"/>
                </a:solidFill>
                <a:latin typeface="Arial" pitchFamily="34" charset="0"/>
                <a:ea typeface="Arial" pitchFamily="34" charset="-122"/>
                <a:cs typeface="Arial" pitchFamily="34" charset="-120"/>
              </a:rPr>
              <a:t>Agents do work now, not just answer questions. </a:t>
            </a:r>
            <a:pPr indent="0" marL="0">
              <a:buNone/>
            </a:pPr>
            <a:r>
              <a:rPr lang="en-US" sz="1200" dirty="0">
                <a:solidFill>
                  <a:srgbClr val="425466"/>
                </a:solidFill>
                <a:latin typeface="Arial" pitchFamily="34" charset="0"/>
                <a:ea typeface="Arial" pitchFamily="34" charset="-122"/>
                <a:cs typeface="Arial" pitchFamily="34" charset="-120"/>
              </a:rPr>
              <a:t>The shift is concrete: agents can call tools, handle multi-step workflows, and make decisions in the flow. Charter is one of the cleanest verticals for agent-native software to land.</a:t>
            </a:r>
            <a:endParaRPr lang="en-US" sz="1400" dirty="0"/>
          </a:p>
        </p:txBody>
      </p:sp>
      <p:sp>
        <p:nvSpPr>
          <p:cNvPr id="6" name="Shape 4"/>
          <p:cNvSpPr/>
          <p:nvPr/>
        </p:nvSpPr>
        <p:spPr>
          <a:xfrm>
            <a:off x="548640" y="2011680"/>
            <a:ext cx="8046720" cy="868680"/>
          </a:xfrm>
          <a:prstGeom prst="rect">
            <a:avLst>
              <a:gd name="adj" fmla="val 5263"/>
            </a:avLst>
          </a:prstGeom>
          <a:solidFill>
            <a:srgbClr val="FFFFFF"/>
          </a:solidFill>
          <a:ln/>
          <a:effectLst>
            <a:outerShdw sx="100000" sy="100000" kx="0" ky="0" algn="bl" rotWithShape="0" blurRad="76200" dist="25400" dir="8100000">
              <a:srgbClr val="000000">
                <a:alpha val="12000"/>
              </a:srgbClr>
            </a:outerShdw>
          </a:effectLst>
        </p:spPr>
      </p:sp>
      <p:sp>
        <p:nvSpPr>
          <p:cNvPr id="7" name="Text 5"/>
          <p:cNvSpPr/>
          <p:nvPr/>
        </p:nvSpPr>
        <p:spPr>
          <a:xfrm>
            <a:off x="777240" y="2084832"/>
            <a:ext cx="7589520" cy="731520"/>
          </a:xfrm>
          <a:prstGeom prst="rect">
            <a:avLst/>
          </a:prstGeom>
          <a:noFill/>
          <a:ln/>
        </p:spPr>
        <p:txBody>
          <a:bodyPr wrap="square" lIns="0" tIns="0" rIns="0" bIns="0" rtlCol="0" anchor="ctr"/>
          <a:lstStyle/>
          <a:p>
            <a:pPr indent="0" marL="0">
              <a:buNone/>
            </a:pPr>
            <a:r>
              <a:rPr lang="en-US" sz="1400" b="1" dirty="0">
                <a:solidFill>
                  <a:srgbClr val="0A2540"/>
                </a:solidFill>
                <a:latin typeface="Arial" pitchFamily="34" charset="0"/>
                <a:ea typeface="Arial" pitchFamily="34" charset="-122"/>
                <a:cs typeface="Arial" pitchFamily="34" charset="-120"/>
              </a:rPr>
              <a:t>The incumbent’s strength is in the wrong place. </a:t>
            </a:r>
            <a:pPr indent="0" marL="0">
              <a:buNone/>
            </a:pPr>
            <a:r>
              <a:rPr lang="en-US" sz="1200" dirty="0">
                <a:solidFill>
                  <a:srgbClr val="425466"/>
                </a:solidFill>
                <a:latin typeface="Arial" pitchFamily="34" charset="0"/>
                <a:ea typeface="Arial" pitchFamily="34" charset="-122"/>
                <a:cs typeface="Arial" pitchFamily="34" charset="-120"/>
              </a:rPr>
              <a:t>Avinode’s moat is in sourcing and quoting. The operations layer — everything after the quote — is structurally unoccupied by the dominant player.</a:t>
            </a:r>
            <a:endParaRPr lang="en-US" sz="1400" dirty="0"/>
          </a:p>
        </p:txBody>
      </p:sp>
      <p:sp>
        <p:nvSpPr>
          <p:cNvPr id="8" name="Shape 6"/>
          <p:cNvSpPr/>
          <p:nvPr/>
        </p:nvSpPr>
        <p:spPr>
          <a:xfrm>
            <a:off x="548640" y="3017520"/>
            <a:ext cx="8046720" cy="868680"/>
          </a:xfrm>
          <a:prstGeom prst="rect">
            <a:avLst>
              <a:gd name="adj" fmla="val 5263"/>
            </a:avLst>
          </a:prstGeom>
          <a:solidFill>
            <a:srgbClr val="FFFFFF"/>
          </a:solidFill>
          <a:ln/>
          <a:effectLst>
            <a:outerShdw sx="100000" sy="100000" kx="0" ky="0" algn="bl" rotWithShape="0" blurRad="76200" dist="25400" dir="8100000">
              <a:srgbClr val="000000">
                <a:alpha val="12000"/>
              </a:srgbClr>
            </a:outerShdw>
          </a:effectLst>
        </p:spPr>
      </p:sp>
      <p:sp>
        <p:nvSpPr>
          <p:cNvPr id="9" name="Text 7"/>
          <p:cNvSpPr/>
          <p:nvPr/>
        </p:nvSpPr>
        <p:spPr>
          <a:xfrm>
            <a:off x="777240" y="3090672"/>
            <a:ext cx="7589520" cy="731520"/>
          </a:xfrm>
          <a:prstGeom prst="rect">
            <a:avLst/>
          </a:prstGeom>
          <a:noFill/>
          <a:ln/>
        </p:spPr>
        <p:txBody>
          <a:bodyPr wrap="square" lIns="0" tIns="0" rIns="0" bIns="0" rtlCol="0" anchor="ctr"/>
          <a:lstStyle/>
          <a:p>
            <a:pPr indent="0" marL="0">
              <a:buNone/>
            </a:pPr>
            <a:r>
              <a:rPr lang="en-US" sz="1400" b="1" dirty="0">
                <a:solidFill>
                  <a:srgbClr val="0A2540"/>
                </a:solidFill>
                <a:latin typeface="Arial" pitchFamily="34" charset="0"/>
                <a:ea typeface="Arial" pitchFamily="34" charset="-122"/>
                <a:cs typeface="Arial" pitchFamily="34" charset="-120"/>
              </a:rPr>
              <a:t>Charter is a coordination business. </a:t>
            </a:r>
            <a:pPr indent="0" marL="0">
              <a:buNone/>
            </a:pPr>
            <a:r>
              <a:rPr lang="en-US" sz="1200" dirty="0">
                <a:solidFill>
                  <a:srgbClr val="425466"/>
                </a:solidFill>
                <a:latin typeface="Arial" pitchFamily="34" charset="0"/>
                <a:ea typeface="Arial" pitchFamily="34" charset="-122"/>
                <a:cs typeface="Arial" pitchFamily="34" charset="-120"/>
              </a:rPr>
              <a:t>Roughly half of what a dispatcher does each day is coordination and communication work. That is exactly where agents are strongest and existing software is weakest.</a:t>
            </a:r>
            <a:endParaRPr lang="en-US" sz="1400" dirty="0"/>
          </a:p>
        </p:txBody>
      </p:sp>
      <p:sp>
        <p:nvSpPr>
          <p:cNvPr id="10" name="Shape 8"/>
          <p:cNvSpPr/>
          <p:nvPr/>
        </p:nvSpPr>
        <p:spPr>
          <a:xfrm>
            <a:off x="548640" y="4023360"/>
            <a:ext cx="8046720" cy="868680"/>
          </a:xfrm>
          <a:prstGeom prst="rect">
            <a:avLst>
              <a:gd name="adj" fmla="val 5263"/>
            </a:avLst>
          </a:prstGeom>
          <a:solidFill>
            <a:srgbClr val="FFFFFF"/>
          </a:solidFill>
          <a:ln/>
          <a:effectLst>
            <a:outerShdw sx="100000" sy="100000" kx="0" ky="0" algn="bl" rotWithShape="0" blurRad="76200" dist="25400" dir="8100000">
              <a:srgbClr val="000000">
                <a:alpha val="12000"/>
              </a:srgbClr>
            </a:outerShdw>
          </a:effectLst>
        </p:spPr>
      </p:sp>
      <p:sp>
        <p:nvSpPr>
          <p:cNvPr id="11" name="Text 9"/>
          <p:cNvSpPr/>
          <p:nvPr/>
        </p:nvSpPr>
        <p:spPr>
          <a:xfrm>
            <a:off x="777240" y="4096512"/>
            <a:ext cx="7589520" cy="731520"/>
          </a:xfrm>
          <a:prstGeom prst="rect">
            <a:avLst/>
          </a:prstGeom>
          <a:noFill/>
          <a:ln/>
        </p:spPr>
        <p:txBody>
          <a:bodyPr wrap="square" lIns="0" tIns="0" rIns="0" bIns="0" rtlCol="0" anchor="ctr"/>
          <a:lstStyle/>
          <a:p>
            <a:pPr indent="0" marL="0">
              <a:buNone/>
            </a:pPr>
            <a:r>
              <a:rPr lang="en-US" sz="1400" b="1" dirty="0">
                <a:solidFill>
                  <a:srgbClr val="0A2540"/>
                </a:solidFill>
                <a:latin typeface="Arial" pitchFamily="34" charset="0"/>
                <a:ea typeface="Arial" pitchFamily="34" charset="-122"/>
                <a:cs typeface="Arial" pitchFamily="34" charset="-120"/>
              </a:rPr>
              <a:t>Salesforce did this once before. </a:t>
            </a:r>
            <a:pPr indent="0" marL="0">
              <a:buNone/>
            </a:pPr>
            <a:r>
              <a:rPr lang="en-US" sz="1200" dirty="0">
                <a:solidFill>
                  <a:srgbClr val="425466"/>
                </a:solidFill>
                <a:latin typeface="Arial" pitchFamily="34" charset="0"/>
                <a:ea typeface="Arial" pitchFamily="34" charset="-122"/>
                <a:cs typeface="Arial" pitchFamily="34" charset="-120"/>
              </a:rPr>
              <a:t>They told buyers to stop installing software and subscribe instead. The next turn is: stop running software, hire an agent.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rgbClr val="0A2540"/>
                </a:solidFill>
                <a:latin typeface="Arial" pitchFamily="34" charset="0"/>
                <a:ea typeface="Arial" pitchFamily="34" charset="-122"/>
                <a:cs typeface="Arial" pitchFamily="34" charset="-120"/>
              </a:rPr>
              <a:t>Competitive Landscape</a:t>
            </a:r>
            <a:endParaRPr lang="en-US" sz="2800" dirty="0"/>
          </a:p>
        </p:txBody>
      </p:sp>
      <p:sp>
        <p:nvSpPr>
          <p:cNvPr id="4" name="Shape 2"/>
          <p:cNvSpPr/>
          <p:nvPr/>
        </p:nvSpPr>
        <p:spPr>
          <a:xfrm>
            <a:off x="548640" y="1005840"/>
            <a:ext cx="2560320" cy="3108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Text 3"/>
          <p:cNvSpPr/>
          <p:nvPr/>
        </p:nvSpPr>
        <p:spPr>
          <a:xfrm>
            <a:off x="777240" y="1097280"/>
            <a:ext cx="2103120" cy="320040"/>
          </a:xfrm>
          <a:prstGeom prst="rect">
            <a:avLst/>
          </a:prstGeom>
          <a:noFill/>
          <a:ln/>
        </p:spPr>
        <p:txBody>
          <a:bodyPr wrap="square" lIns="0" tIns="0" rIns="0" bIns="0" rtlCol="0" anchor="ctr"/>
          <a:lstStyle/>
          <a:p>
            <a:pPr indent="0" marL="0">
              <a:buNone/>
            </a:pPr>
            <a:r>
              <a:rPr lang="en-US" sz="1100" b="1" spc="200" kern="0" dirty="0">
                <a:solidFill>
                  <a:srgbClr val="2E75B6"/>
                </a:solidFill>
                <a:latin typeface="Arial" pitchFamily="34" charset="0"/>
                <a:ea typeface="Arial" pitchFamily="34" charset="-122"/>
                <a:cs typeface="Arial" pitchFamily="34" charset="-120"/>
              </a:rPr>
              <a:t>AVINODE</a:t>
            </a:r>
            <a:endParaRPr lang="en-US" sz="1100" dirty="0"/>
          </a:p>
        </p:txBody>
      </p:sp>
      <p:sp>
        <p:nvSpPr>
          <p:cNvPr id="6" name="Text 4"/>
          <p:cNvSpPr/>
          <p:nvPr/>
        </p:nvSpPr>
        <p:spPr>
          <a:xfrm>
            <a:off x="777240" y="1417320"/>
            <a:ext cx="2103120" cy="274320"/>
          </a:xfrm>
          <a:prstGeom prst="rect">
            <a:avLst/>
          </a:prstGeom>
          <a:noFill/>
          <a:ln/>
        </p:spPr>
        <p:txBody>
          <a:bodyPr wrap="square" lIns="0" tIns="0" rIns="0" bIns="0" rtlCol="0" anchor="ctr"/>
          <a:lstStyle/>
          <a:p>
            <a:pPr indent="0" marL="0">
              <a:buNone/>
            </a:pPr>
            <a:r>
              <a:rPr lang="en-US" sz="1200" b="1" dirty="0">
                <a:solidFill>
                  <a:srgbClr val="00D4AA"/>
                </a:solidFill>
                <a:latin typeface="Arial" pitchFamily="34" charset="0"/>
                <a:ea typeface="Arial" pitchFamily="34" charset="-122"/>
                <a:cs typeface="Arial" pitchFamily="34" charset="-120"/>
              </a:rPr>
              <a:t>Complementary</a:t>
            </a:r>
            <a:endParaRPr lang="en-US" sz="1200" dirty="0"/>
          </a:p>
        </p:txBody>
      </p:sp>
      <p:sp>
        <p:nvSpPr>
          <p:cNvPr id="7" name="Text 5"/>
          <p:cNvSpPr/>
          <p:nvPr/>
        </p:nvSpPr>
        <p:spPr>
          <a:xfrm>
            <a:off x="777240" y="1737360"/>
            <a:ext cx="2103120" cy="2194560"/>
          </a:xfrm>
          <a:prstGeom prst="rect">
            <a:avLst/>
          </a:prstGeom>
          <a:noFill/>
          <a:ln/>
        </p:spPr>
        <p:txBody>
          <a:bodyPr wrap="square" lIns="0" tIns="0" rIns="0" bIns="0" rtlCol="0" anchor="ctr"/>
          <a:lstStyle/>
          <a:p>
            <a:pPr indent="0" marL="0">
              <a:buNone/>
            </a:pPr>
            <a:r>
              <a:rPr lang="en-US" sz="1100" dirty="0">
                <a:solidFill>
                  <a:srgbClr val="425466"/>
                </a:solidFill>
                <a:latin typeface="Arial" pitchFamily="34" charset="0"/>
                <a:ea typeface="Arial" pitchFamily="34" charset="-122"/>
                <a:cs typeface="Arial" pitchFamily="34" charset="-120"/>
              </a:rPr>
              <a:t>20-year network. 3,400+ aircraft. Entrenched in sourcing and quoting. Seat-license pricing out of reach for most broker-operators.</a:t>
            </a:r>
            <a:endParaRPr lang="en-US" sz="1100" dirty="0"/>
          </a:p>
          <a:p>
            <a:pPr indent="0" marL="0">
              <a:buNone/>
            </a:pPr>
            <a:endParaRPr lang="en-US" sz="1100" dirty="0"/>
          </a:p>
          <a:p>
            <a:pPr indent="0" marL="0">
              <a:buNone/>
            </a:pPr>
            <a:r>
              <a:rPr lang="en-US" sz="1100" dirty="0">
                <a:solidFill>
                  <a:srgbClr val="425466"/>
                </a:solidFill>
                <a:latin typeface="Arial" pitchFamily="34" charset="0"/>
                <a:ea typeface="Arial" pitchFamily="34" charset="-122"/>
                <a:cs typeface="Arial" pitchFamily="34" charset="-120"/>
              </a:rPr>
              <a:t>We don’t compete. Our operators use Avinode for sourcing; we live in the workflow after the quote.</a:t>
            </a:r>
            <a:endParaRPr lang="en-US" sz="1100" dirty="0"/>
          </a:p>
        </p:txBody>
      </p:sp>
      <p:sp>
        <p:nvSpPr>
          <p:cNvPr id="8" name="Shape 6"/>
          <p:cNvSpPr/>
          <p:nvPr/>
        </p:nvSpPr>
        <p:spPr>
          <a:xfrm>
            <a:off x="3291840" y="1005840"/>
            <a:ext cx="2560320" cy="3108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Text 7"/>
          <p:cNvSpPr/>
          <p:nvPr/>
        </p:nvSpPr>
        <p:spPr>
          <a:xfrm>
            <a:off x="3520440" y="1097280"/>
            <a:ext cx="2103120" cy="320040"/>
          </a:xfrm>
          <a:prstGeom prst="rect">
            <a:avLst/>
          </a:prstGeom>
          <a:noFill/>
          <a:ln/>
        </p:spPr>
        <p:txBody>
          <a:bodyPr wrap="square" lIns="0" tIns="0" rIns="0" bIns="0" rtlCol="0" anchor="ctr"/>
          <a:lstStyle/>
          <a:p>
            <a:pPr indent="0" marL="0">
              <a:buNone/>
            </a:pPr>
            <a:r>
              <a:rPr lang="en-US" sz="1100" b="1" spc="200" kern="0" dirty="0">
                <a:solidFill>
                  <a:srgbClr val="2E75B6"/>
                </a:solidFill>
                <a:latin typeface="Arial" pitchFamily="34" charset="0"/>
                <a:ea typeface="Arial" pitchFamily="34" charset="-122"/>
                <a:cs typeface="Arial" pitchFamily="34" charset="-120"/>
              </a:rPr>
              <a:t>HAMILTON AI</a:t>
            </a:r>
            <a:endParaRPr lang="en-US" sz="1100" dirty="0"/>
          </a:p>
        </p:txBody>
      </p:sp>
      <p:sp>
        <p:nvSpPr>
          <p:cNvPr id="10" name="Text 8"/>
          <p:cNvSpPr/>
          <p:nvPr/>
        </p:nvSpPr>
        <p:spPr>
          <a:xfrm>
            <a:off x="3520440" y="1417320"/>
            <a:ext cx="2103120" cy="274320"/>
          </a:xfrm>
          <a:prstGeom prst="rect">
            <a:avLst/>
          </a:prstGeom>
          <a:noFill/>
          <a:ln/>
        </p:spPr>
        <p:txBody>
          <a:bodyPr wrap="square" lIns="0" tIns="0" rIns="0" bIns="0" rtlCol="0" anchor="ctr"/>
          <a:lstStyle/>
          <a:p>
            <a:pPr indent="0" marL="0">
              <a:buNone/>
            </a:pPr>
            <a:r>
              <a:rPr lang="en-US" sz="1200" b="1" dirty="0">
                <a:solidFill>
                  <a:srgbClr val="C5962A"/>
                </a:solidFill>
                <a:latin typeface="Arial" pitchFamily="34" charset="0"/>
                <a:ea typeface="Arial" pitchFamily="34" charset="-122"/>
                <a:cs typeface="Arial" pitchFamily="34" charset="-120"/>
              </a:rPr>
              <a:t>Closest Peer</a:t>
            </a:r>
            <a:endParaRPr lang="en-US" sz="1200" dirty="0"/>
          </a:p>
        </p:txBody>
      </p:sp>
      <p:sp>
        <p:nvSpPr>
          <p:cNvPr id="11" name="Text 9"/>
          <p:cNvSpPr/>
          <p:nvPr/>
        </p:nvSpPr>
        <p:spPr>
          <a:xfrm>
            <a:off x="3520440" y="1737360"/>
            <a:ext cx="2103120" cy="2194560"/>
          </a:xfrm>
          <a:prstGeom prst="rect">
            <a:avLst/>
          </a:prstGeom>
          <a:noFill/>
          <a:ln/>
        </p:spPr>
        <p:txBody>
          <a:bodyPr wrap="square" lIns="0" tIns="0" rIns="0" bIns="0" rtlCol="0" anchor="ctr"/>
          <a:lstStyle/>
          <a:p>
            <a:pPr indent="0" marL="0">
              <a:buNone/>
            </a:pPr>
            <a:r>
              <a:rPr lang="en-US" sz="1100" dirty="0">
                <a:solidFill>
                  <a:srgbClr val="425466"/>
                </a:solidFill>
                <a:latin typeface="Arial" pitchFamily="34" charset="0"/>
                <a:ea typeface="Arial" pitchFamily="34" charset="-122"/>
                <a:cs typeface="Arial" pitchFamily="34" charset="-120"/>
              </a:rPr>
              <a:t>~$9.8M raised. Shipping since 2024. Embedded banking (Apr 2026). Real competitor.</a:t>
            </a:r>
            <a:endParaRPr lang="en-US" sz="1100" dirty="0"/>
          </a:p>
          <a:p>
            <a:pPr indent="0" marL="0">
              <a:buNone/>
            </a:pPr>
            <a:endParaRPr lang="en-US" sz="1100" dirty="0"/>
          </a:p>
          <a:p>
            <a:pPr indent="0" marL="0">
              <a:buNone/>
            </a:pPr>
            <a:r>
              <a:rPr lang="en-US" sz="1100" dirty="0">
                <a:solidFill>
                  <a:srgbClr val="425466"/>
                </a:solidFill>
                <a:latin typeface="Arial" pitchFamily="34" charset="0"/>
                <a:ea typeface="Arial" pitchFamily="34" charset="-122"/>
                <a:cs typeface="Arial" pitchFamily="34" charset="-120"/>
              </a:rPr>
              <a:t>Our bet: VC economics will concentrate them on 50+ aircraft enterprises. The 10–30 operator mid-market is harder to serve profitably at their cost structure. That’s where we start.</a:t>
            </a:r>
            <a:endParaRPr lang="en-US" sz="1100" dirty="0"/>
          </a:p>
        </p:txBody>
      </p:sp>
      <p:sp>
        <p:nvSpPr>
          <p:cNvPr id="12" name="Shape 10"/>
          <p:cNvSpPr/>
          <p:nvPr/>
        </p:nvSpPr>
        <p:spPr>
          <a:xfrm>
            <a:off x="6035040" y="1005840"/>
            <a:ext cx="2560320" cy="3108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Text 11"/>
          <p:cNvSpPr/>
          <p:nvPr/>
        </p:nvSpPr>
        <p:spPr>
          <a:xfrm>
            <a:off x="6263640" y="1097280"/>
            <a:ext cx="2103120" cy="320040"/>
          </a:xfrm>
          <a:prstGeom prst="rect">
            <a:avLst/>
          </a:prstGeom>
          <a:noFill/>
          <a:ln/>
        </p:spPr>
        <p:txBody>
          <a:bodyPr wrap="square" lIns="0" tIns="0" rIns="0" bIns="0" rtlCol="0" anchor="ctr"/>
          <a:lstStyle/>
          <a:p>
            <a:pPr indent="0" marL="0">
              <a:buNone/>
            </a:pPr>
            <a:r>
              <a:rPr lang="en-US" sz="1100" b="1" spc="200" kern="0" dirty="0">
                <a:solidFill>
                  <a:srgbClr val="2E75B6"/>
                </a:solidFill>
                <a:latin typeface="Arial" pitchFamily="34" charset="0"/>
                <a:ea typeface="Arial" pitchFamily="34" charset="-122"/>
                <a:cs typeface="Arial" pitchFamily="34" charset="-120"/>
              </a:rPr>
              <a:t>ENTERPRISE</a:t>
            </a:r>
            <a:endParaRPr lang="en-US" sz="1100" dirty="0"/>
          </a:p>
        </p:txBody>
      </p:sp>
      <p:sp>
        <p:nvSpPr>
          <p:cNvPr id="14" name="Text 12"/>
          <p:cNvSpPr/>
          <p:nvPr/>
        </p:nvSpPr>
        <p:spPr>
          <a:xfrm>
            <a:off x="6263640" y="1417320"/>
            <a:ext cx="2103120" cy="274320"/>
          </a:xfrm>
          <a:prstGeom prst="rect">
            <a:avLst/>
          </a:prstGeom>
          <a:noFill/>
          <a:ln/>
        </p:spPr>
        <p:txBody>
          <a:bodyPr wrap="square" lIns="0" tIns="0" rIns="0" bIns="0" rtlCol="0" anchor="ctr"/>
          <a:lstStyle/>
          <a:p>
            <a:pPr indent="0" marL="0">
              <a:buNone/>
            </a:pPr>
            <a:r>
              <a:rPr lang="en-US" sz="1200" b="1" dirty="0">
                <a:solidFill>
                  <a:srgbClr val="8898AA"/>
                </a:solidFill>
                <a:latin typeface="Arial" pitchFamily="34" charset="0"/>
                <a:ea typeface="Arial" pitchFamily="34" charset="-122"/>
                <a:cs typeface="Arial" pitchFamily="34" charset="-120"/>
              </a:rPr>
              <a:t>Different Buyer</a:t>
            </a:r>
            <a:endParaRPr lang="en-US" sz="1200" dirty="0"/>
          </a:p>
        </p:txBody>
      </p:sp>
      <p:sp>
        <p:nvSpPr>
          <p:cNvPr id="15" name="Text 13"/>
          <p:cNvSpPr/>
          <p:nvPr/>
        </p:nvSpPr>
        <p:spPr>
          <a:xfrm>
            <a:off x="6263640" y="1737360"/>
            <a:ext cx="2103120" cy="2194560"/>
          </a:xfrm>
          <a:prstGeom prst="rect">
            <a:avLst/>
          </a:prstGeom>
          <a:noFill/>
          <a:ln/>
        </p:spPr>
        <p:txBody>
          <a:bodyPr wrap="square" lIns="0" tIns="0" rIns="0" bIns="0" rtlCol="0" anchor="ctr"/>
          <a:lstStyle/>
          <a:p>
            <a:pPr indent="0" marL="0">
              <a:buNone/>
            </a:pPr>
            <a:r>
              <a:rPr lang="en-US" sz="1100" dirty="0">
                <a:solidFill>
                  <a:srgbClr val="425466"/>
                </a:solidFill>
                <a:latin typeface="Arial" pitchFamily="34" charset="0"/>
                <a:ea typeface="Arial" pitchFamily="34" charset="-122"/>
                <a:cs typeface="Arial" pitchFamily="34" charset="-120"/>
              </a:rPr>
              <a:t>FL3XX, Portside, and similar. Powerful, expensive, configured for operators with dedicated IT teams.</a:t>
            </a:r>
            <a:endParaRPr lang="en-US" sz="1100" dirty="0"/>
          </a:p>
          <a:p>
            <a:pPr indent="0" marL="0">
              <a:buNone/>
            </a:pPr>
            <a:endParaRPr lang="en-US" sz="1100" dirty="0"/>
          </a:p>
          <a:p>
            <a:pPr indent="0" marL="0">
              <a:buNone/>
            </a:pPr>
            <a:r>
              <a:rPr lang="en-US" sz="1100" dirty="0">
                <a:solidFill>
                  <a:srgbClr val="425466"/>
                </a:solidFill>
                <a:latin typeface="Arial" pitchFamily="34" charset="0"/>
                <a:ea typeface="Arial" pitchFamily="34" charset="-122"/>
                <a:cs typeface="Arial" pitchFamily="34" charset="-120"/>
              </a:rPr>
              <a:t>They sell dashboards, not colleagues. Their buyers are larger than our beachhead. Our buyers look at their tools, balk at the price, and return to WhatsApp.</a:t>
            </a:r>
            <a:endParaRPr lang="en-US" sz="1100" dirty="0"/>
          </a:p>
        </p:txBody>
      </p:sp>
      <p:sp>
        <p:nvSpPr>
          <p:cNvPr id="16" name="Text 14"/>
          <p:cNvSpPr/>
          <p:nvPr/>
        </p:nvSpPr>
        <p:spPr>
          <a:xfrm>
            <a:off x="548640" y="4297680"/>
            <a:ext cx="7315200" cy="365760"/>
          </a:xfrm>
          <a:prstGeom prst="rect">
            <a:avLst/>
          </a:prstGeom>
          <a:noFill/>
          <a:ln/>
        </p:spPr>
        <p:txBody>
          <a:bodyPr wrap="square" lIns="0" tIns="0" rIns="0" bIns="0" rtlCol="0" anchor="ctr"/>
          <a:lstStyle/>
          <a:p>
            <a:pPr indent="0" marL="0">
              <a:buNone/>
            </a:pPr>
            <a:r>
              <a:rPr lang="en-US" sz="1200" i="1" dirty="0">
                <a:solidFill>
                  <a:srgbClr val="8898AA"/>
                </a:solidFill>
                <a:latin typeface="Arial" pitchFamily="34" charset="0"/>
                <a:ea typeface="Arial" pitchFamily="34" charset="-122"/>
                <a:cs typeface="Arial" pitchFamily="34" charset="-120"/>
              </a:rPr>
              <a:t>None is fatal to us. Together they define where we play.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C5962A"/>
          </a:solidFill>
          <a:ln/>
        </p:spPr>
      </p:sp>
      <p:sp>
        <p:nvSpPr>
          <p:cNvPr id="3" name="Text 1"/>
          <p:cNvSpPr/>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Business Model</a:t>
            </a:r>
            <a:endParaRPr lang="en-US" sz="2800" dirty="0"/>
          </a:p>
        </p:txBody>
      </p:sp>
      <p:sp>
        <p:nvSpPr>
          <p:cNvPr id="4" name="Text 2"/>
          <p:cNvSpPr/>
          <p:nvPr/>
        </p:nvSpPr>
        <p:spPr>
          <a:xfrm>
            <a:off x="548640" y="1005840"/>
            <a:ext cx="7315200" cy="457200"/>
          </a:xfrm>
          <a:prstGeom prst="rect">
            <a:avLst/>
          </a:prstGeom>
          <a:noFill/>
          <a:ln/>
        </p:spPr>
        <p:txBody>
          <a:bodyPr wrap="square" lIns="0" tIns="0" rIns="0" bIns="0" rtlCol="0" anchor="ctr"/>
          <a:lstStyle/>
          <a:p>
            <a:pPr indent="0" marL="0">
              <a:buNone/>
            </a:pPr>
            <a:r>
              <a:rPr lang="en-US" sz="1800" b="1" dirty="0">
                <a:solidFill>
                  <a:srgbClr val="C5962A"/>
                </a:solidFill>
                <a:latin typeface="Arial" pitchFamily="34" charset="0"/>
                <a:ea typeface="Arial" pitchFamily="34" charset="-122"/>
                <a:cs typeface="Arial" pitchFamily="34" charset="-120"/>
              </a:rPr>
              <a:t>Usage-based pricing to operators and brokers.</a:t>
            </a:r>
            <a:endParaRPr lang="en-US" sz="1800" dirty="0"/>
          </a:p>
        </p:txBody>
      </p:sp>
      <p:sp>
        <p:nvSpPr>
          <p:cNvPr id="5" name="Text 3"/>
          <p:cNvSpPr/>
          <p:nvPr/>
        </p:nvSpPr>
        <p:spPr>
          <a:xfrm>
            <a:off x="548640" y="1554480"/>
            <a:ext cx="7315200" cy="54864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The pricing unit and tier structure are under active discussion and will be tested with the first design partner before being finalized.</a:t>
            </a:r>
            <a:endParaRPr lang="en-US" sz="1400" dirty="0"/>
          </a:p>
        </p:txBody>
      </p:sp>
      <p:sp>
        <p:nvSpPr>
          <p:cNvPr id="6" name="Text 4"/>
          <p:cNvSpPr/>
          <p:nvPr/>
        </p:nvSpPr>
        <p:spPr>
          <a:xfrm>
            <a:off x="548640" y="2377440"/>
            <a:ext cx="7772400" cy="201168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FFFFFF"/>
                </a:solidFill>
                <a:latin typeface="Arial" pitchFamily="34" charset="0"/>
                <a:ea typeface="Arial" pitchFamily="34" charset="-122"/>
                <a:cs typeface="Arial" pitchFamily="34" charset="-120"/>
              </a:rPr>
              <a:t>Break-even economics are acceptable for Year 1</a:t>
            </a:r>
            <a:endParaRPr lang="en-US" sz="1400" dirty="0"/>
          </a:p>
          <a:p>
            <a:pPr marL="342900" indent="-342900">
              <a:spcAft>
                <a:spcPts val="800"/>
              </a:spcAft>
              <a:buSzPct val="100000"/>
              <a:buChar char="•"/>
            </a:pPr>
            <a:r>
              <a:rPr lang="en-US" sz="1400" dirty="0">
                <a:solidFill>
                  <a:srgbClr val="FFFFFF"/>
                </a:solidFill>
                <a:latin typeface="Arial" pitchFamily="34" charset="0"/>
                <a:ea typeface="Arial" pitchFamily="34" charset="-122"/>
                <a:cs typeface="Arial" pitchFamily="34" charset="-120"/>
              </a:rPr>
              <a:t>Goal at this stage: proof-of-traction and a data foundation, not margin</a:t>
            </a:r>
            <a:endParaRPr lang="en-US" sz="1400" dirty="0"/>
          </a:p>
          <a:p>
            <a:pPr marL="342900" indent="-342900">
              <a:spcAft>
                <a:spcPts val="800"/>
              </a:spcAft>
              <a:buSzPct val="100000"/>
              <a:buChar char="•"/>
            </a:pPr>
            <a:r>
              <a:rPr lang="en-US" sz="1400" dirty="0">
                <a:solidFill>
                  <a:srgbClr val="FFFFFF"/>
                </a:solidFill>
                <a:latin typeface="Arial" pitchFamily="34" charset="0"/>
                <a:ea typeface="Arial" pitchFamily="34" charset="-122"/>
                <a:cs typeface="Arial" pitchFamily="34" charset="-120"/>
              </a:rPr>
              <a:t>Not raising venture capital at this time</a:t>
            </a:r>
            <a:endParaRPr lang="en-US" sz="1400" dirty="0"/>
          </a:p>
          <a:p>
            <a:pPr marL="342900" indent="-342900">
              <a:spcAft>
                <a:spcPts val="800"/>
              </a:spcAft>
              <a:buSzPct val="100000"/>
              <a:buChar char="•"/>
            </a:pPr>
            <a:r>
              <a:rPr lang="en-US" sz="1400" dirty="0">
                <a:solidFill>
                  <a:srgbClr val="FFFFFF"/>
                </a:solidFill>
                <a:latin typeface="Arial" pitchFamily="34" charset="0"/>
                <a:ea typeface="Arial" pitchFamily="34" charset="-122"/>
                <a:cs typeface="Arial" pitchFamily="34" charset="-120"/>
              </a:rPr>
              <a:t>Will consider angel capital in 60–90 days, if design partner is signed</a:t>
            </a:r>
            <a:endParaRPr lang="en-US" sz="1400" dirty="0"/>
          </a:p>
          <a:p>
            <a:pPr marL="342900" indent="-342900">
              <a:spcAft>
                <a:spcPts val="800"/>
              </a:spcAft>
              <a:buSzPct val="100000"/>
              <a:buChar char="•"/>
            </a:pPr>
            <a:r>
              <a:rPr lang="en-US" sz="1400" dirty="0">
                <a:solidFill>
                  <a:srgbClr val="FFFFFF"/>
                </a:solidFill>
                <a:latin typeface="Arial" pitchFamily="34" charset="0"/>
                <a:ea typeface="Arial" pitchFamily="34" charset="-122"/>
                <a:cs typeface="Arial" pitchFamily="34" charset="-120"/>
              </a:rPr>
              <a:t>Running to preserve the optionality of bootstrapping</a:t>
            </a:r>
            <a:endParaRPr lang="en-US" sz="1400" dirty="0"/>
          </a:p>
        </p:txBody>
      </p:sp>
      <p:sp>
        <p:nvSpPr>
          <p:cNvPr id="7" name="Text 5"/>
          <p:cNvSpPr/>
          <p:nvPr/>
        </p:nvSpPr>
        <p:spPr>
          <a:xfrm>
            <a:off x="548640" y="4480560"/>
            <a:ext cx="7315200" cy="365760"/>
          </a:xfrm>
          <a:prstGeom prst="rect">
            <a:avLst/>
          </a:prstGeom>
          <a:noFill/>
          <a:ln/>
        </p:spPr>
        <p:txBody>
          <a:bodyPr wrap="square" lIns="0" tIns="0" rIns="0" bIns="0" rtlCol="0" anchor="ctr"/>
          <a:lstStyle/>
          <a:p>
            <a:pPr indent="0" marL="0">
              <a:buNone/>
            </a:pPr>
            <a:r>
              <a:rPr lang="en-US" sz="1200" i="1" dirty="0">
                <a:solidFill>
                  <a:srgbClr val="8898AA"/>
                </a:solidFill>
                <a:latin typeface="Arial" pitchFamily="34" charset="0"/>
                <a:ea typeface="Arial" pitchFamily="34" charset="-122"/>
                <a:cs typeface="Arial" pitchFamily="34" charset="-120"/>
              </a:rPr>
              <a:t>We believe this is the right structure for a vertical operations business of this kind.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rgbClr val="0A2540"/>
                </a:solidFill>
                <a:latin typeface="Arial" pitchFamily="34" charset="0"/>
                <a:ea typeface="Arial" pitchFamily="34" charset="-122"/>
                <a:cs typeface="Arial" pitchFamily="34" charset="-120"/>
              </a:rPr>
              <a:t>Phase Plan</a:t>
            </a:r>
            <a:endParaRPr lang="en-US" sz="2800" dirty="0"/>
          </a:p>
        </p:txBody>
      </p:sp>
      <p:sp>
        <p:nvSpPr>
          <p:cNvPr id="4" name="Shape 2"/>
          <p:cNvSpPr/>
          <p:nvPr/>
        </p:nvSpPr>
        <p:spPr>
          <a:xfrm>
            <a:off x="548640" y="1005840"/>
            <a:ext cx="8046720" cy="1051560"/>
          </a:xfrm>
          <a:prstGeom prst="rect">
            <a:avLst/>
          </a:prstGeom>
          <a:solidFill>
            <a:srgbClr val="2E75B6"/>
          </a:solidFill>
          <a:ln/>
        </p:spPr>
      </p:sp>
      <p:sp>
        <p:nvSpPr>
          <p:cNvPr id="5" name="Text 3"/>
          <p:cNvSpPr/>
          <p:nvPr/>
        </p:nvSpPr>
        <p:spPr>
          <a:xfrm>
            <a:off x="777240" y="1051560"/>
            <a:ext cx="1828800" cy="274320"/>
          </a:xfrm>
          <a:prstGeom prst="rect">
            <a:avLst/>
          </a:prstGeom>
          <a:noFill/>
          <a:ln/>
        </p:spPr>
        <p:txBody>
          <a:bodyPr wrap="square" lIns="0" tIns="0" rIns="0" bIns="0" rtlCol="0" anchor="ctr"/>
          <a:lstStyle/>
          <a:p>
            <a:pPr indent="0" marL="0">
              <a:buNone/>
            </a:pPr>
            <a:r>
              <a:rPr lang="en-US" sz="1100" b="1" spc="200" kern="0" dirty="0">
                <a:solidFill>
                  <a:srgbClr val="C5962A"/>
                </a:solidFill>
                <a:latin typeface="Arial" pitchFamily="34" charset="0"/>
                <a:ea typeface="Arial" pitchFamily="34" charset="-122"/>
                <a:cs typeface="Arial" pitchFamily="34" charset="-120"/>
              </a:rPr>
              <a:t>PHASE 1 (NOW)</a:t>
            </a:r>
            <a:endParaRPr lang="en-US" sz="1100" dirty="0"/>
          </a:p>
        </p:txBody>
      </p:sp>
      <p:sp>
        <p:nvSpPr>
          <p:cNvPr id="6" name="Text 4"/>
          <p:cNvSpPr/>
          <p:nvPr/>
        </p:nvSpPr>
        <p:spPr>
          <a:xfrm>
            <a:off x="777240" y="1325880"/>
            <a:ext cx="731520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Operations platform for owner-operators</a:t>
            </a:r>
            <a:endParaRPr lang="en-US" sz="1600" dirty="0"/>
          </a:p>
        </p:txBody>
      </p:sp>
      <p:sp>
        <p:nvSpPr>
          <p:cNvPr id="7" name="Text 5"/>
          <p:cNvSpPr/>
          <p:nvPr/>
        </p:nvSpPr>
        <p:spPr>
          <a:xfrm>
            <a:off x="777240" y="1645920"/>
            <a:ext cx="7315200" cy="3657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Win the daily workflow of 10–30 aircraft US operators. Earn the right to be their system of record. 6–9 months of product and GTM effort.</a:t>
            </a:r>
            <a:endParaRPr lang="en-US" sz="1200" dirty="0"/>
          </a:p>
        </p:txBody>
      </p:sp>
      <p:sp>
        <p:nvSpPr>
          <p:cNvPr id="8" name="Shape 6"/>
          <p:cNvSpPr/>
          <p:nvPr/>
        </p:nvSpPr>
        <p:spPr>
          <a:xfrm>
            <a:off x="548640" y="2286000"/>
            <a:ext cx="8046720" cy="10515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Text 7"/>
          <p:cNvSpPr/>
          <p:nvPr/>
        </p:nvSpPr>
        <p:spPr>
          <a:xfrm>
            <a:off x="777240" y="2331720"/>
            <a:ext cx="2743200" cy="274320"/>
          </a:xfrm>
          <a:prstGeom prst="rect">
            <a:avLst/>
          </a:prstGeom>
          <a:noFill/>
          <a:ln/>
        </p:spPr>
        <p:txBody>
          <a:bodyPr wrap="square" lIns="0" tIns="0" rIns="0" bIns="0" rtlCol="0" anchor="ctr"/>
          <a:lstStyle/>
          <a:p>
            <a:pPr indent="0" marL="0">
              <a:buNone/>
            </a:pPr>
            <a:r>
              <a:rPr lang="en-US" sz="1100" b="1" spc="200" kern="0" dirty="0">
                <a:solidFill>
                  <a:srgbClr val="2E75B6"/>
                </a:solidFill>
                <a:latin typeface="Arial" pitchFamily="34" charset="0"/>
                <a:ea typeface="Arial" pitchFamily="34" charset="-122"/>
                <a:cs typeface="Arial" pitchFamily="34" charset="-120"/>
              </a:rPr>
              <a:t>PHASE 2 (MONTHS 9–18)</a:t>
            </a:r>
            <a:endParaRPr lang="en-US" sz="1100" dirty="0"/>
          </a:p>
        </p:txBody>
      </p:sp>
      <p:sp>
        <p:nvSpPr>
          <p:cNvPr id="10" name="Text 8"/>
          <p:cNvSpPr/>
          <p:nvPr/>
        </p:nvSpPr>
        <p:spPr>
          <a:xfrm>
            <a:off x="777240" y="2606040"/>
            <a:ext cx="7315200" cy="320040"/>
          </a:xfrm>
          <a:prstGeom prst="rect">
            <a:avLst/>
          </a:prstGeom>
          <a:noFill/>
          <a:ln/>
        </p:spPr>
        <p:txBody>
          <a:bodyPr wrap="square" lIns="0" tIns="0" rIns="0" bIns="0" rtlCol="0" anchor="ctr"/>
          <a:lstStyle/>
          <a:p>
            <a:pPr indent="0" marL="0">
              <a:buNone/>
            </a:pPr>
            <a:r>
              <a:rPr lang="en-US" sz="1600" b="1" dirty="0">
                <a:solidFill>
                  <a:srgbClr val="0A2540"/>
                </a:solidFill>
                <a:latin typeface="Arial" pitchFamily="34" charset="0"/>
                <a:ea typeface="Arial" pitchFamily="34" charset="-122"/>
                <a:cs typeface="Arial" pitchFamily="34" charset="-120"/>
              </a:rPr>
              <a:t>Expansion into brokers</a:t>
            </a:r>
            <a:endParaRPr lang="en-US" sz="1600" dirty="0"/>
          </a:p>
        </p:txBody>
      </p:sp>
      <p:sp>
        <p:nvSpPr>
          <p:cNvPr id="11" name="Text 9"/>
          <p:cNvSpPr/>
          <p:nvPr/>
        </p:nvSpPr>
        <p:spPr>
          <a:xfrm>
            <a:off x="777240" y="2926080"/>
            <a:ext cx="7315200" cy="365760"/>
          </a:xfrm>
          <a:prstGeom prst="rect">
            <a:avLst/>
          </a:prstGeom>
          <a:noFill/>
          <a:ln/>
        </p:spPr>
        <p:txBody>
          <a:bodyPr wrap="square" lIns="0" tIns="0" rIns="0" bIns="0" rtlCol="0" anchor="ctr"/>
          <a:lstStyle/>
          <a:p>
            <a:pPr indent="0" marL="0">
              <a:buNone/>
            </a:pPr>
            <a:r>
              <a:rPr lang="en-US" sz="1200" dirty="0">
                <a:solidFill>
                  <a:srgbClr val="425466"/>
                </a:solidFill>
                <a:latin typeface="Arial" pitchFamily="34" charset="0"/>
                <a:ea typeface="Arial" pitchFamily="34" charset="-122"/>
                <a:cs typeface="Arial" pitchFamily="34" charset="-120"/>
              </a:rPr>
              <a:t>Same platform, brokered workflow. Brokers come in through operator relationships. Product surface expands modestly; GTM expands meaningfully.</a:t>
            </a:r>
            <a:endParaRPr lang="en-US" sz="1200" dirty="0"/>
          </a:p>
        </p:txBody>
      </p:sp>
      <p:sp>
        <p:nvSpPr>
          <p:cNvPr id="12" name="Shape 10"/>
          <p:cNvSpPr/>
          <p:nvPr/>
        </p:nvSpPr>
        <p:spPr>
          <a:xfrm>
            <a:off x="548640" y="3566160"/>
            <a:ext cx="8046720" cy="10515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Text 11"/>
          <p:cNvSpPr/>
          <p:nvPr/>
        </p:nvSpPr>
        <p:spPr>
          <a:xfrm>
            <a:off x="777240" y="3611880"/>
            <a:ext cx="2743200" cy="274320"/>
          </a:xfrm>
          <a:prstGeom prst="rect">
            <a:avLst/>
          </a:prstGeom>
          <a:noFill/>
          <a:ln/>
        </p:spPr>
        <p:txBody>
          <a:bodyPr wrap="square" lIns="0" tIns="0" rIns="0" bIns="0" rtlCol="0" anchor="ctr"/>
          <a:lstStyle/>
          <a:p>
            <a:pPr indent="0" marL="0">
              <a:buNone/>
            </a:pPr>
            <a:r>
              <a:rPr lang="en-US" sz="1100" b="1" spc="200" kern="0" dirty="0">
                <a:solidFill>
                  <a:srgbClr val="2E75B6"/>
                </a:solidFill>
                <a:latin typeface="Arial" pitchFamily="34" charset="0"/>
                <a:ea typeface="Arial" pitchFamily="34" charset="-122"/>
                <a:cs typeface="Arial" pitchFamily="34" charset="-120"/>
              </a:rPr>
              <a:t>PHASE 3 (18+ MONTHS)</a:t>
            </a:r>
            <a:endParaRPr lang="en-US" sz="1100" dirty="0"/>
          </a:p>
        </p:txBody>
      </p:sp>
      <p:sp>
        <p:nvSpPr>
          <p:cNvPr id="14" name="Text 12"/>
          <p:cNvSpPr/>
          <p:nvPr/>
        </p:nvSpPr>
        <p:spPr>
          <a:xfrm>
            <a:off x="777240" y="3886200"/>
            <a:ext cx="7315200" cy="320040"/>
          </a:xfrm>
          <a:prstGeom prst="rect">
            <a:avLst/>
          </a:prstGeom>
          <a:noFill/>
          <a:ln/>
        </p:spPr>
        <p:txBody>
          <a:bodyPr wrap="square" lIns="0" tIns="0" rIns="0" bIns="0" rtlCol="0" anchor="ctr"/>
          <a:lstStyle/>
          <a:p>
            <a:pPr indent="0" marL="0">
              <a:buNone/>
            </a:pPr>
            <a:r>
              <a:rPr lang="en-US" sz="1600" b="1" dirty="0">
                <a:solidFill>
                  <a:srgbClr val="0A2540"/>
                </a:solidFill>
                <a:latin typeface="Arial" pitchFamily="34" charset="0"/>
                <a:ea typeface="Arial" pitchFamily="34" charset="-122"/>
                <a:cs typeface="Arial" pitchFamily="34" charset="-120"/>
              </a:rPr>
              <a:t>Transparent marketplace built on operations data</a:t>
            </a:r>
            <a:endParaRPr lang="en-US" sz="1600" dirty="0"/>
          </a:p>
        </p:txBody>
      </p:sp>
      <p:sp>
        <p:nvSpPr>
          <p:cNvPr id="15" name="Text 13"/>
          <p:cNvSpPr/>
          <p:nvPr/>
        </p:nvSpPr>
        <p:spPr>
          <a:xfrm>
            <a:off x="777240" y="4206240"/>
            <a:ext cx="7315200" cy="365760"/>
          </a:xfrm>
          <a:prstGeom prst="rect">
            <a:avLst/>
          </a:prstGeom>
          <a:noFill/>
          <a:ln/>
        </p:spPr>
        <p:txBody>
          <a:bodyPr wrap="square" lIns="0" tIns="0" rIns="0" bIns="0" rtlCol="0" anchor="ctr"/>
          <a:lstStyle/>
          <a:p>
            <a:pPr indent="0" marL="0">
              <a:buNone/>
            </a:pPr>
            <a:r>
              <a:rPr lang="en-US" sz="1200" dirty="0">
                <a:solidFill>
                  <a:srgbClr val="425466"/>
                </a:solidFill>
                <a:latin typeface="Arial" pitchFamily="34" charset="0"/>
                <a:ea typeface="Arial" pitchFamily="34" charset="-122"/>
                <a:cs typeface="Arial" pitchFamily="34" charset="-120"/>
              </a:rPr>
              <a:t>Completed trip data flowing through GoFlight is structurally richer than what any quoting marketplace has ever had. The marketplace is earned by the operations layer, not built in parallel to it.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rgbClr val="0A2540"/>
                </a:solidFill>
                <a:latin typeface="Arial" pitchFamily="34" charset="0"/>
                <a:ea typeface="Arial" pitchFamily="34" charset="-122"/>
                <a:cs typeface="Arial" pitchFamily="34" charset="-120"/>
              </a:rPr>
              <a:t>The Founder</a:t>
            </a:r>
            <a:endParaRPr lang="en-US" sz="2800" dirty="0"/>
          </a:p>
        </p:txBody>
      </p:sp>
      <p:sp>
        <p:nvSpPr>
          <p:cNvPr id="4" name="Text 2"/>
          <p:cNvSpPr/>
          <p:nvPr/>
        </p:nvSpPr>
        <p:spPr>
          <a:xfrm>
            <a:off x="548640" y="914400"/>
            <a:ext cx="7315200" cy="457200"/>
          </a:xfrm>
          <a:prstGeom prst="rect">
            <a:avLst/>
          </a:prstGeom>
          <a:noFill/>
          <a:ln/>
        </p:spPr>
        <p:txBody>
          <a:bodyPr wrap="square" lIns="0" tIns="0" rIns="0" bIns="0" rtlCol="0" anchor="ctr"/>
          <a:lstStyle/>
          <a:p>
            <a:pPr indent="0" marL="0">
              <a:buNone/>
            </a:pPr>
            <a:r>
              <a:rPr lang="en-US" sz="2200" b="1" dirty="0">
                <a:solidFill>
                  <a:srgbClr val="0A2540"/>
                </a:solidFill>
                <a:latin typeface="Arial" pitchFamily="34" charset="0"/>
                <a:ea typeface="Arial" pitchFamily="34" charset="-122"/>
                <a:cs typeface="Arial" pitchFamily="34" charset="-120"/>
              </a:rPr>
              <a:t>Jack Bradham</a:t>
            </a:r>
            <a:endParaRPr lang="en-US" sz="2200" dirty="0"/>
          </a:p>
        </p:txBody>
      </p:sp>
      <p:sp>
        <p:nvSpPr>
          <p:cNvPr id="5" name="Text 3"/>
          <p:cNvSpPr/>
          <p:nvPr/>
        </p:nvSpPr>
        <p:spPr>
          <a:xfrm>
            <a:off x="548640" y="1463040"/>
            <a:ext cx="7772400" cy="256032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425466"/>
                </a:solidFill>
                <a:latin typeface="Arial" pitchFamily="34" charset="0"/>
                <a:ea typeface="Arial" pitchFamily="34" charset="-122"/>
                <a:cs typeface="Arial" pitchFamily="34" charset="-120"/>
              </a:rPr>
              <a:t>Senior Solutions Architect at AWS (third year). Prior: Microsoft, Google Cloud. ~15 years across the three major cloud platforms. GenAI, cloud architecture, and data analytics.</a:t>
            </a:r>
            <a:endParaRPr lang="en-US" sz="1300" dirty="0"/>
          </a:p>
          <a:p>
            <a:pPr marL="342900" indent="-342900">
              <a:spcAft>
                <a:spcPts val="800"/>
              </a:spcAft>
              <a:buSzPct val="100000"/>
              <a:buChar char="•"/>
            </a:pPr>
            <a:r>
              <a:rPr lang="en-US" sz="1300" dirty="0">
                <a:solidFill>
                  <a:srgbClr val="425466"/>
                </a:solidFill>
                <a:latin typeface="Arial" pitchFamily="34" charset="0"/>
                <a:ea typeface="Arial" pitchFamily="34" charset="-122"/>
                <a:cs typeface="Arial" pitchFamily="34" charset="-120"/>
              </a:rPr>
              <a:t>Built and ran the internet business division of East Coast Air Charter (ECACI) from 1999 to 2012. Grew to $20M yearly revenue, 13% margins. Acquired by XPO Logistics.</a:t>
            </a:r>
            <a:endParaRPr lang="en-US" sz="1300" dirty="0"/>
          </a:p>
          <a:p>
            <a:pPr marL="342900" indent="-342900">
              <a:spcAft>
                <a:spcPts val="800"/>
              </a:spcAft>
              <a:buSzPct val="100000"/>
              <a:buChar char="•"/>
            </a:pPr>
            <a:r>
              <a:rPr lang="en-US" sz="1300" dirty="0">
                <a:solidFill>
                  <a:srgbClr val="425466"/>
                </a:solidFill>
                <a:latin typeface="Arial" pitchFamily="34" charset="0"/>
                <a:ea typeface="Arial" pitchFamily="34" charset="-122"/>
                <a:cs typeface="Arial" pitchFamily="34" charset="-120"/>
              </a:rPr>
              <a:t>Deep in the Anthropic developer ecosystem. Runs his own AI gateway and production agentic coding workflow. The technical credibility to build agent-native software is present.</a:t>
            </a:r>
            <a:endParaRPr lang="en-US" sz="1300" dirty="0"/>
          </a:p>
          <a:p>
            <a:pPr marL="342900" indent="-342900">
              <a:spcAft>
                <a:spcPts val="800"/>
              </a:spcAft>
              <a:buSzPct val="100000"/>
              <a:buChar char="•"/>
            </a:pPr>
            <a:r>
              <a:rPr lang="en-US" sz="1300" dirty="0">
                <a:solidFill>
                  <a:srgbClr val="425466"/>
                </a:solidFill>
                <a:latin typeface="Arial" pitchFamily="34" charset="0"/>
                <a:ea typeface="Arial" pitchFamily="34" charset="-122"/>
                <a:cs typeface="Arial" pitchFamily="34" charset="-120"/>
              </a:rPr>
              <a:t>AWS salary subsidizes GoFlight. No external pressure to raise before the business is ready. This is intentional.</a:t>
            </a:r>
            <a:endParaRPr lang="en-US" sz="1300" dirty="0"/>
          </a:p>
        </p:txBody>
      </p:sp>
      <p:sp>
        <p:nvSpPr>
          <p:cNvPr id="6" name="Text 4"/>
          <p:cNvSpPr/>
          <p:nvPr/>
        </p:nvSpPr>
        <p:spPr>
          <a:xfrm>
            <a:off x="548640" y="4114800"/>
            <a:ext cx="7315200" cy="640080"/>
          </a:xfrm>
          <a:prstGeom prst="rect">
            <a:avLst/>
          </a:prstGeom>
          <a:noFill/>
          <a:ln/>
        </p:spPr>
        <p:txBody>
          <a:bodyPr wrap="square" lIns="0" tIns="0" rIns="0" bIns="0" rtlCol="0" anchor="ctr"/>
          <a:lstStyle/>
          <a:p>
            <a:pPr indent="0" marL="0">
              <a:buNone/>
            </a:pPr>
            <a:r>
              <a:rPr lang="en-US" sz="1300" i="1" dirty="0">
                <a:solidFill>
                  <a:srgbClr val="2E75B6"/>
                </a:solidFill>
                <a:latin typeface="Arial" pitchFamily="34" charset="0"/>
                <a:ea typeface="Arial" pitchFamily="34" charset="-122"/>
                <a:cs typeface="Arial" pitchFamily="34" charset="-120"/>
              </a:rPr>
              <a:t>The work of the next 90 days is not primarily technical.</a:t>
            </a:r>
            <a:endParaRPr lang="en-US" sz="1300" dirty="0"/>
          </a:p>
          <a:p>
            <a:pPr indent="0" marL="0">
              <a:buNone/>
            </a:pPr>
            <a:r>
              <a:rPr lang="en-US" sz="1300" i="1" dirty="0">
                <a:solidFill>
                  <a:srgbClr val="2E75B6"/>
                </a:solidFill>
                <a:latin typeface="Arial" pitchFamily="34" charset="0"/>
                <a:ea typeface="Arial" pitchFamily="34" charset="-122"/>
                <a:cs typeface="Arial" pitchFamily="34" charset="-120"/>
              </a:rPr>
              <a:t>It is customer discovery, positioning discipline, and organizing around one lane.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C5962A"/>
          </a:solidFill>
          <a:ln/>
        </p:spPr>
      </p:sp>
      <p:sp>
        <p:nvSpPr>
          <p:cNvPr id="3" name="Text 1"/>
          <p:cNvSpPr/>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The Next 30 Days</a:t>
            </a:r>
            <a:endParaRPr lang="en-US" sz="2800" dirty="0"/>
          </a:p>
        </p:txBody>
      </p:sp>
      <p:sp>
        <p:nvSpPr>
          <p:cNvPr id="4" name="Text 2"/>
          <p:cNvSpPr/>
          <p:nvPr/>
        </p:nvSpPr>
        <p:spPr>
          <a:xfrm>
            <a:off x="548640" y="822960"/>
            <a:ext cx="7315200" cy="365760"/>
          </a:xfrm>
          <a:prstGeom prst="rect">
            <a:avLst/>
          </a:prstGeom>
          <a:noFill/>
          <a:ln/>
        </p:spPr>
        <p:txBody>
          <a:bodyPr wrap="square" lIns="0" tIns="0" rIns="0" bIns="0" rtlCol="0" anchor="ctr"/>
          <a:lstStyle/>
          <a:p>
            <a:pPr indent="0" marL="0">
              <a:buNone/>
            </a:pPr>
            <a:r>
              <a:rPr lang="en-US" sz="1400" dirty="0">
                <a:solidFill>
                  <a:srgbClr val="C5962A"/>
                </a:solidFill>
                <a:latin typeface="Arial" pitchFamily="34" charset="0"/>
                <a:ea typeface="Arial" pitchFamily="34" charset="-122"/>
                <a:cs typeface="Arial" pitchFamily="34" charset="-120"/>
              </a:rPr>
              <a:t>By May 18, 2026:</a:t>
            </a:r>
            <a:endParaRPr lang="en-US" sz="1400" dirty="0"/>
          </a:p>
        </p:txBody>
      </p:sp>
      <p:sp>
        <p:nvSpPr>
          <p:cNvPr id="5" name="Text 3"/>
          <p:cNvSpPr/>
          <p:nvPr/>
        </p:nvSpPr>
        <p:spPr>
          <a:xfrm>
            <a:off x="548640" y="1280160"/>
            <a:ext cx="8046720" cy="3474720"/>
          </a:xfrm>
          <a:prstGeom prst="rect">
            <a:avLst/>
          </a:prstGeom>
          <a:noFill/>
          <a:ln/>
        </p:spPr>
        <p:txBody>
          <a:bodyPr wrap="square" lIns="0" tIns="0" rIns="0" bIns="0" rtlCol="0" anchor="ctr"/>
          <a:lstStyle/>
          <a:p>
            <a:pPr marL="342900" indent="-342900">
              <a:spcAft>
                <a:spcPts val="600"/>
              </a:spcAft>
              <a:buSzPct val="100000"/>
              <a:buFont typeface="+mj-lt"/>
              <a:buAutoNum type="arabicPeriod" startAt="1"/>
            </a:pPr>
            <a:r>
              <a:rPr lang="en-US" sz="1300" dirty="0">
                <a:solidFill>
                  <a:srgbClr val="FFFFFF"/>
                </a:solidFill>
                <a:latin typeface="Arial" pitchFamily="34" charset="0"/>
                <a:ea typeface="Arial" pitchFamily="34" charset="-122"/>
                <a:cs typeface="Arial" pitchFamily="34" charset="-120"/>
              </a:rPr>
              <a:t>One-sentence pitch refined in public — said 20+ times, iterated from real reactions</a:t>
            </a:r>
            <a:endParaRPr lang="en-US" sz="1300" dirty="0"/>
          </a:p>
          <a:p>
            <a:pPr marL="342900" indent="-342900">
              <a:spcAft>
                <a:spcPts val="600"/>
              </a:spcAft>
              <a:buSzPct val="100000"/>
              <a:buFont typeface="+mj-lt"/>
              <a:buAutoNum type="arabicPeriod" startAt="1"/>
            </a:pPr>
            <a:r>
              <a:rPr lang="en-US" sz="1300" dirty="0">
                <a:solidFill>
                  <a:srgbClr val="FFFFFF"/>
                </a:solidFill>
                <a:latin typeface="Arial" pitchFamily="34" charset="0"/>
                <a:ea typeface="Arial" pitchFamily="34" charset="-122"/>
                <a:cs typeface="Arial" pitchFamily="34" charset="-120"/>
              </a:rPr>
              <a:t>Three discovery calls completed with 10–30 aircraft owner-operators</a:t>
            </a:r>
            <a:endParaRPr lang="en-US" sz="1300" dirty="0"/>
          </a:p>
          <a:p>
            <a:pPr marL="342900" indent="-342900">
              <a:spcAft>
                <a:spcPts val="600"/>
              </a:spcAft>
              <a:buSzPct val="100000"/>
              <a:buFont typeface="+mj-lt"/>
              <a:buAutoNum type="arabicPeriod" startAt="1"/>
            </a:pPr>
            <a:r>
              <a:rPr lang="en-US" sz="1300" dirty="0">
                <a:solidFill>
                  <a:srgbClr val="FFFFFF"/>
                </a:solidFill>
                <a:latin typeface="Arial" pitchFamily="34" charset="0"/>
                <a:ea typeface="Arial" pitchFamily="34" charset="-122"/>
                <a:cs typeface="Arial" pitchFamily="34" charset="-120"/>
              </a:rPr>
              <a:t>One design partner signed as a handshake — using the tool starting in June</a:t>
            </a:r>
            <a:endParaRPr lang="en-US" sz="1300" dirty="0"/>
          </a:p>
          <a:p>
            <a:pPr marL="342900" indent="-342900">
              <a:spcAft>
                <a:spcPts val="600"/>
              </a:spcAft>
              <a:buSzPct val="100000"/>
              <a:buFont typeface="+mj-lt"/>
              <a:buAutoNum type="arabicPeriod" startAt="1"/>
            </a:pPr>
            <a:r>
              <a:rPr lang="en-US" sz="1300" dirty="0">
                <a:solidFill>
                  <a:srgbClr val="FFFFFF"/>
                </a:solidFill>
                <a:latin typeface="Arial" pitchFamily="34" charset="0"/>
                <a:ea typeface="Arial" pitchFamily="34" charset="-122"/>
                <a:cs typeface="Arial" pitchFamily="34" charset="-120"/>
              </a:rPr>
              <a:t>A demo path built and shipping: the narrow slice that can be shown on an iPad at a bar</a:t>
            </a:r>
            <a:endParaRPr lang="en-US" sz="1300" dirty="0"/>
          </a:p>
          <a:p>
            <a:pPr marL="342900" indent="-342900">
              <a:spcAft>
                <a:spcPts val="600"/>
              </a:spcAft>
              <a:buSzPct val="100000"/>
              <a:buFont typeface="+mj-lt"/>
              <a:buAutoNum type="arabicPeriod" startAt="1"/>
            </a:pPr>
            <a:r>
              <a:rPr lang="en-US" sz="1300" dirty="0">
                <a:solidFill>
                  <a:srgbClr val="FFFFFF"/>
                </a:solidFill>
                <a:latin typeface="Arial" pitchFamily="34" charset="0"/>
                <a:ea typeface="Arial" pitchFamily="34" charset="-122"/>
                <a:cs typeface="Arial" pitchFamily="34" charset="-120"/>
              </a:rPr>
              <a:t>Revenue model documented: pricing unit, target price point, first-year unit economics</a:t>
            </a:r>
            <a:endParaRPr lang="en-US" sz="1300" dirty="0"/>
          </a:p>
          <a:p>
            <a:pPr marL="342900" indent="-342900">
              <a:spcAft>
                <a:spcPts val="600"/>
              </a:spcAft>
              <a:buSzPct val="100000"/>
              <a:buFont typeface="+mj-lt"/>
              <a:buAutoNum type="arabicPeriod" startAt="1"/>
            </a:pPr>
            <a:r>
              <a:rPr lang="en-US" sz="1300" dirty="0">
                <a:solidFill>
                  <a:srgbClr val="FFFFFF"/>
                </a:solidFill>
                <a:latin typeface="Arial" pitchFamily="34" charset="0"/>
                <a:ea typeface="Arial" pitchFamily="34" charset="-122"/>
                <a:cs typeface="Arial" pitchFamily="34" charset="-120"/>
              </a:rPr>
              <a:t>One advisor formalized (Murat) and one founder peer community joined</a:t>
            </a:r>
            <a:endParaRPr lang="en-US" sz="1300" dirty="0"/>
          </a:p>
          <a:p>
            <a:pPr marL="342900" indent="-342900">
              <a:spcAft>
                <a:spcPts val="600"/>
              </a:spcAft>
              <a:buSzPct val="100000"/>
              <a:buFont typeface="+mj-lt"/>
              <a:buAutoNum type="arabicPeriod" startAt="1"/>
            </a:pPr>
            <a:r>
              <a:rPr lang="en-US" sz="1300" dirty="0">
                <a:solidFill>
                  <a:srgbClr val="FFFFFF"/>
                </a:solidFill>
                <a:latin typeface="Arial" pitchFamily="34" charset="0"/>
                <a:ea typeface="Arial" pitchFamily="34" charset="-122"/>
                <a:cs typeface="Arial" pitchFamily="34" charset="-120"/>
              </a:rPr>
              <a:t>Decision on NBAA White Plains (May 20): attend only if a design partner or marketing artifact exists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2E75B6"/>
          </a:solidFill>
          <a:ln/>
        </p:spPr>
      </p:sp>
      <p:sp>
        <p:nvSpPr>
          <p:cNvPr id="3" name="Text 1"/>
          <p:cNvSpPr/>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What We’re Asking For</a:t>
            </a:r>
            <a:endParaRPr lang="en-US" sz="2800" dirty="0"/>
          </a:p>
        </p:txBody>
      </p:sp>
      <p:sp>
        <p:nvSpPr>
          <p:cNvPr id="4" name="Text 2"/>
          <p:cNvSpPr/>
          <p:nvPr/>
        </p:nvSpPr>
        <p:spPr>
          <a:xfrm>
            <a:off x="548640" y="1005840"/>
            <a:ext cx="7315200" cy="457200"/>
          </a:xfrm>
          <a:prstGeom prst="rect">
            <a:avLst/>
          </a:prstGeom>
          <a:noFill/>
          <a:ln/>
        </p:spPr>
        <p:txBody>
          <a:bodyPr wrap="square" lIns="0" tIns="0" rIns="0" bIns="0" rtlCol="0" anchor="ctr"/>
          <a:lstStyle/>
          <a:p>
            <a:pPr indent="0" marL="0">
              <a:buNone/>
            </a:pPr>
            <a:r>
              <a:rPr lang="en-US" sz="2000" b="1" dirty="0">
                <a:solidFill>
                  <a:srgbClr val="C5962A"/>
                </a:solidFill>
                <a:latin typeface="Arial" pitchFamily="34" charset="0"/>
                <a:ea typeface="Arial" pitchFamily="34" charset="-122"/>
                <a:cs typeface="Arial" pitchFamily="34" charset="-120"/>
              </a:rPr>
              <a:t>No money. No equity. No commitment.</a:t>
            </a:r>
            <a:endParaRPr lang="en-US" sz="2000" dirty="0"/>
          </a:p>
        </p:txBody>
      </p:sp>
      <p:sp>
        <p:nvSpPr>
          <p:cNvPr id="5" name="Text 3"/>
          <p:cNvSpPr/>
          <p:nvPr/>
        </p:nvSpPr>
        <p:spPr>
          <a:xfrm>
            <a:off x="548640" y="1645920"/>
            <a:ext cx="7315200" cy="36576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Three things, any of which helps:</a:t>
            </a:r>
            <a:endParaRPr lang="en-US" sz="1400" dirty="0"/>
          </a:p>
        </p:txBody>
      </p:sp>
      <p:sp>
        <p:nvSpPr>
          <p:cNvPr id="6" name="Shape 4"/>
          <p:cNvSpPr/>
          <p:nvPr/>
        </p:nvSpPr>
        <p:spPr>
          <a:xfrm>
            <a:off x="548640" y="2194560"/>
            <a:ext cx="8046720" cy="685800"/>
          </a:xfrm>
          <a:prstGeom prst="rect">
            <a:avLst/>
          </a:prstGeom>
          <a:solidFill>
            <a:srgbClr val="162B44"/>
          </a:solidFill>
          <a:ln/>
        </p:spPr>
      </p:sp>
      <p:sp>
        <p:nvSpPr>
          <p:cNvPr id="7" name="Text 5"/>
          <p:cNvSpPr/>
          <p:nvPr/>
        </p:nvSpPr>
        <p:spPr>
          <a:xfrm>
            <a:off x="777240" y="2286000"/>
            <a:ext cx="365760" cy="502920"/>
          </a:xfrm>
          <a:prstGeom prst="rect">
            <a:avLst/>
          </a:prstGeom>
          <a:noFill/>
          <a:ln/>
        </p:spPr>
        <p:txBody>
          <a:bodyPr wrap="square" lIns="0" tIns="0" rIns="0" bIns="0" rtlCol="0" anchor="ctr"/>
          <a:lstStyle/>
          <a:p>
            <a:pPr indent="0" marL="0">
              <a:buNone/>
            </a:pPr>
            <a:r>
              <a:rPr lang="en-US" sz="1800" b="1" dirty="0">
                <a:solidFill>
                  <a:srgbClr val="C5962A"/>
                </a:solidFill>
                <a:latin typeface="Arial" pitchFamily="34" charset="0"/>
                <a:ea typeface="Arial" pitchFamily="34" charset="-122"/>
                <a:cs typeface="Arial" pitchFamily="34" charset="-120"/>
              </a:rPr>
              <a:t>1.</a:t>
            </a:r>
            <a:endParaRPr lang="en-US" sz="1800" dirty="0"/>
          </a:p>
        </p:txBody>
      </p:sp>
      <p:sp>
        <p:nvSpPr>
          <p:cNvPr id="8" name="Text 6"/>
          <p:cNvSpPr/>
          <p:nvPr/>
        </p:nvSpPr>
        <p:spPr>
          <a:xfrm>
            <a:off x="1188720" y="2286000"/>
            <a:ext cx="7132320" cy="50292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Honest reactions to the thesis. What’s weak, what’s confusing, what would make a reader stop reading.</a:t>
            </a:r>
            <a:endParaRPr lang="en-US" sz="1300" dirty="0"/>
          </a:p>
        </p:txBody>
      </p:sp>
      <p:sp>
        <p:nvSpPr>
          <p:cNvPr id="9" name="Shape 7"/>
          <p:cNvSpPr/>
          <p:nvPr/>
        </p:nvSpPr>
        <p:spPr>
          <a:xfrm>
            <a:off x="548640" y="3017520"/>
            <a:ext cx="8046720" cy="685800"/>
          </a:xfrm>
          <a:prstGeom prst="rect">
            <a:avLst/>
          </a:prstGeom>
          <a:solidFill>
            <a:srgbClr val="162B44"/>
          </a:solidFill>
          <a:ln/>
        </p:spPr>
      </p:sp>
      <p:sp>
        <p:nvSpPr>
          <p:cNvPr id="10" name="Text 8"/>
          <p:cNvSpPr/>
          <p:nvPr/>
        </p:nvSpPr>
        <p:spPr>
          <a:xfrm>
            <a:off x="777240" y="3108960"/>
            <a:ext cx="365760" cy="502920"/>
          </a:xfrm>
          <a:prstGeom prst="rect">
            <a:avLst/>
          </a:prstGeom>
          <a:noFill/>
          <a:ln/>
        </p:spPr>
        <p:txBody>
          <a:bodyPr wrap="square" lIns="0" tIns="0" rIns="0" bIns="0" rtlCol="0" anchor="ctr"/>
          <a:lstStyle/>
          <a:p>
            <a:pPr indent="0" marL="0">
              <a:buNone/>
            </a:pPr>
            <a:r>
              <a:rPr lang="en-US" sz="1800" b="1" dirty="0">
                <a:solidFill>
                  <a:srgbClr val="C5962A"/>
                </a:solidFill>
                <a:latin typeface="Arial" pitchFamily="34" charset="0"/>
                <a:ea typeface="Arial" pitchFamily="34" charset="-122"/>
                <a:cs typeface="Arial" pitchFamily="34" charset="-120"/>
              </a:rPr>
              <a:t>2.</a:t>
            </a:r>
            <a:endParaRPr lang="en-US" sz="1800" dirty="0"/>
          </a:p>
        </p:txBody>
      </p:sp>
      <p:sp>
        <p:nvSpPr>
          <p:cNvPr id="11" name="Text 9"/>
          <p:cNvSpPr/>
          <p:nvPr/>
        </p:nvSpPr>
        <p:spPr>
          <a:xfrm>
            <a:off x="1188720" y="3108960"/>
            <a:ext cx="7132320" cy="50292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Introductions to mid-size US charter operators (10–30 aircraft) who would take a 30-minute call about their operations workflow.</a:t>
            </a:r>
            <a:endParaRPr lang="en-US" sz="1300" dirty="0"/>
          </a:p>
        </p:txBody>
      </p:sp>
      <p:sp>
        <p:nvSpPr>
          <p:cNvPr id="12" name="Shape 10"/>
          <p:cNvSpPr/>
          <p:nvPr/>
        </p:nvSpPr>
        <p:spPr>
          <a:xfrm>
            <a:off x="548640" y="3840480"/>
            <a:ext cx="8046720" cy="685800"/>
          </a:xfrm>
          <a:prstGeom prst="rect">
            <a:avLst/>
          </a:prstGeom>
          <a:solidFill>
            <a:srgbClr val="162B44"/>
          </a:solidFill>
          <a:ln/>
        </p:spPr>
      </p:sp>
      <p:sp>
        <p:nvSpPr>
          <p:cNvPr id="13" name="Text 11"/>
          <p:cNvSpPr/>
          <p:nvPr/>
        </p:nvSpPr>
        <p:spPr>
          <a:xfrm>
            <a:off x="777240" y="3931920"/>
            <a:ext cx="365760" cy="502920"/>
          </a:xfrm>
          <a:prstGeom prst="rect">
            <a:avLst/>
          </a:prstGeom>
          <a:noFill/>
          <a:ln/>
        </p:spPr>
        <p:txBody>
          <a:bodyPr wrap="square" lIns="0" tIns="0" rIns="0" bIns="0" rtlCol="0" anchor="ctr"/>
          <a:lstStyle/>
          <a:p>
            <a:pPr indent="0" marL="0">
              <a:buNone/>
            </a:pPr>
            <a:r>
              <a:rPr lang="en-US" sz="1800" b="1" dirty="0">
                <a:solidFill>
                  <a:srgbClr val="C5962A"/>
                </a:solidFill>
                <a:latin typeface="Arial" pitchFamily="34" charset="0"/>
                <a:ea typeface="Arial" pitchFamily="34" charset="-122"/>
                <a:cs typeface="Arial" pitchFamily="34" charset="-120"/>
              </a:rPr>
              <a:t>3.</a:t>
            </a:r>
            <a:endParaRPr lang="en-US" sz="1800" dirty="0"/>
          </a:p>
        </p:txBody>
      </p:sp>
      <p:sp>
        <p:nvSpPr>
          <p:cNvPr id="14" name="Text 12"/>
          <p:cNvSpPr/>
          <p:nvPr/>
        </p:nvSpPr>
        <p:spPr>
          <a:xfrm>
            <a:off x="1188720" y="3931920"/>
            <a:ext cx="7132320" cy="50292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Names of people we should be talking to, reading, watching, or worried about — in charter, in agent-native software, in vertical marketplaces.</a:t>
            </a:r>
            <a:endParaRPr lang="en-US" sz="1300" dirty="0"/>
          </a:p>
        </p:txBody>
      </p:sp>
      <p:sp>
        <p:nvSpPr>
          <p:cNvPr id="15" name="Text 13"/>
          <p:cNvSpPr/>
          <p:nvPr/>
        </p:nvSpPr>
        <p:spPr>
          <a:xfrm>
            <a:off x="548640" y="4572000"/>
            <a:ext cx="7315200" cy="365760"/>
          </a:xfrm>
          <a:prstGeom prst="rect">
            <a:avLst/>
          </a:prstGeom>
          <a:noFill/>
          <a:ln/>
        </p:spPr>
        <p:txBody>
          <a:bodyPr wrap="square" lIns="0" tIns="0" rIns="0" bIns="0" rtlCol="0" anchor="ctr"/>
          <a:lstStyle/>
          <a:p>
            <a:pPr indent="0" marL="0">
              <a:buNone/>
            </a:pPr>
            <a:r>
              <a:rPr lang="en-US" sz="1200" dirty="0">
                <a:solidFill>
                  <a:srgbClr val="8898AA"/>
                </a:solidFill>
                <a:latin typeface="Arial" pitchFamily="34" charset="0"/>
                <a:ea typeface="Arial" pitchFamily="34" charset="-122"/>
                <a:cs typeface="Arial" pitchFamily="34" charset="-120"/>
              </a:rPr>
              <a:t>Jack Bradham  ·  GoFlight  ·  hello@goflight.ai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GoFlight - Pitch Deck v3</dc:title>
  <dc:subject>PptxGenJS Presentation</dc:subject>
  <dc:creator>Jack Bradham</dc:creator>
  <cp:lastModifiedBy>Jack Bradham</cp:lastModifiedBy>
  <cp:revision>1</cp:revision>
  <dcterms:created xsi:type="dcterms:W3CDTF">2026-04-21T23:57:54Z</dcterms:created>
  <dcterms:modified xsi:type="dcterms:W3CDTF">2026-04-21T23:57:54Z</dcterms:modified>
</cp:coreProperties>
</file>